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a0cfb0198b4071" /><Relationship Type="http://schemas.openxmlformats.org/officeDocument/2006/relationships/extended-properties" Target="/docProps/app.xml" Id="Rd3c384ea6ac74392" /><Relationship Type="http://schemas.openxmlformats.org/officeDocument/2006/relationships/officeDocument" Target="/ppt/presentation.xml" Id="R54e01dde855a48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fdbedbc8b74afd"/>
  </p:sldMasterIdLst>
  <p:notesMasterIdLst>
    <p:notesMasterId xmlns:r="http://schemas.openxmlformats.org/officeDocument/2006/relationships" r:id="R371929ab291b434b"/>
  </p:notesMasterIdLst>
  <p:sldIdLst>
    <p:sldId xmlns:r="http://schemas.openxmlformats.org/officeDocument/2006/relationships" id="256" r:id="Rd0625da3fd8b4910"/>
    <p:sldId xmlns:r="http://schemas.openxmlformats.org/officeDocument/2006/relationships" id="257" r:id="R548bb08f8bb34e7d"/>
    <p:sldId xmlns:r="http://schemas.openxmlformats.org/officeDocument/2006/relationships" id="258" r:id="R9014f59aa63f44fc"/>
    <p:sldId xmlns:r="http://schemas.openxmlformats.org/officeDocument/2006/relationships" id="259" r:id="R66c52a589efc4ff0"/>
    <p:sldId xmlns:r="http://schemas.openxmlformats.org/officeDocument/2006/relationships" id="260" r:id="R08c6f8688dce4fdf"/>
    <p:sldId xmlns:r="http://schemas.openxmlformats.org/officeDocument/2006/relationships" id="261" r:id="Rc92c7f476b274d1c"/>
    <p:sldId xmlns:r="http://schemas.openxmlformats.org/officeDocument/2006/relationships" id="262" r:id="R75b592ccfea44aba"/>
    <p:sldId xmlns:r="http://schemas.openxmlformats.org/officeDocument/2006/relationships" id="263" r:id="R6c83036dbaec439d"/>
    <p:sldId xmlns:r="http://schemas.openxmlformats.org/officeDocument/2006/relationships" id="264" r:id="Rf9ca672f3bc4428f"/>
    <p:sldId xmlns:r="http://schemas.openxmlformats.org/officeDocument/2006/relationships" id="265" r:id="Radf2311b21824416"/>
    <p:sldId xmlns:r="http://schemas.openxmlformats.org/officeDocument/2006/relationships" id="266" r:id="Rb577d48d88a74fb1"/>
    <p:sldId xmlns:r="http://schemas.openxmlformats.org/officeDocument/2006/relationships" id="267" r:id="Rea40a32c2b904267"/>
    <p:sldId xmlns:r="http://schemas.openxmlformats.org/officeDocument/2006/relationships" id="268" r:id="Rb670f1e9d6d146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dbedbc8b74afd" /><Relationship Type="http://schemas.openxmlformats.org/officeDocument/2006/relationships/theme" Target="/ppt/theme/theme1.xml" Id="Rcd4a78b39b694857" /><Relationship Type="http://schemas.openxmlformats.org/officeDocument/2006/relationships/notesMaster" Target="/ppt/notesMasters/notesMaster1.xml" Id="R371929ab291b434b" /><Relationship Type="http://schemas.openxmlformats.org/officeDocument/2006/relationships/presProps" Target="/ppt/presProps.xml" Id="R2145ff47844f4142" /><Relationship Type="http://schemas.openxmlformats.org/officeDocument/2006/relationships/viewProps" Target="/ppt/viewProps.xml" Id="R8ce5268ee30f4370" /><Relationship Type="http://schemas.openxmlformats.org/officeDocument/2006/relationships/tableStyles" Target="/ppt/tableStyles.xml" Id="Rd56fdb02da534c91" /><Relationship Type="http://schemas.openxmlformats.org/officeDocument/2006/relationships/slide" Target="/ppt/slides/slide1.xml" Id="Rd0625da3fd8b4910" /><Relationship Type="http://schemas.openxmlformats.org/officeDocument/2006/relationships/slide" Target="/ppt/slides/slide2.xml" Id="R548bb08f8bb34e7d" /><Relationship Type="http://schemas.openxmlformats.org/officeDocument/2006/relationships/slide" Target="/ppt/slides/slide3.xml" Id="R9014f59aa63f44fc" /><Relationship Type="http://schemas.openxmlformats.org/officeDocument/2006/relationships/slide" Target="/ppt/slides/slide4.xml" Id="R66c52a589efc4ff0" /><Relationship Type="http://schemas.openxmlformats.org/officeDocument/2006/relationships/slide" Target="/ppt/slides/slide5.xml" Id="R08c6f8688dce4fdf" /><Relationship Type="http://schemas.openxmlformats.org/officeDocument/2006/relationships/slide" Target="/ppt/slides/slide6.xml" Id="Rc92c7f476b274d1c" /><Relationship Type="http://schemas.openxmlformats.org/officeDocument/2006/relationships/slide" Target="/ppt/slides/slide7.xml" Id="R75b592ccfea44aba" /><Relationship Type="http://schemas.openxmlformats.org/officeDocument/2006/relationships/slide" Target="/ppt/slides/slide8.xml" Id="R6c83036dbaec439d" /><Relationship Type="http://schemas.openxmlformats.org/officeDocument/2006/relationships/slide" Target="/ppt/slides/slide9.xml" Id="Rf9ca672f3bc4428f" /><Relationship Type="http://schemas.openxmlformats.org/officeDocument/2006/relationships/slide" Target="/ppt/slides/slide10.xml" Id="Radf2311b21824416" /><Relationship Type="http://schemas.openxmlformats.org/officeDocument/2006/relationships/slide" Target="/ppt/slides/slide11.xml" Id="Rb577d48d88a74fb1" /><Relationship Type="http://schemas.openxmlformats.org/officeDocument/2006/relationships/slide" Target="/ppt/slides/slide12.xml" Id="Rea40a32c2b904267" /><Relationship Type="http://schemas.openxmlformats.org/officeDocument/2006/relationships/slide" Target="/ppt/slides/slide13.xml" Id="Rb670f1e9d6d146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c2d0665562d48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Rhan Viva Theme">
  <a:themeElements>
    <a:clrScheme name="Rhan Viva Theme">
      <a:accent1>
        <a:srgbClr val="1D8A68"/>
      </a:accent1>
      <a:accent2>
        <a:srgbClr val="D89B28"/>
      </a:accent2>
      <a:accent3>
        <a:srgbClr val="C85F4F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han Viva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60ed3a38314cba" /><Relationship Type="http://schemas.openxmlformats.org/officeDocument/2006/relationships/notesMaster" Target="/ppt/notesMasters/notesMaster1.xml" Id="Rf3b04ec5d0af4e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495fc493f14e88" /><Relationship Type="http://schemas.openxmlformats.org/officeDocument/2006/relationships/notesMaster" Target="/ppt/notesMasters/notesMaster1.xml" Id="R6f407c6af2724e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f8e876e6a4fc1" /><Relationship Type="http://schemas.openxmlformats.org/officeDocument/2006/relationships/notesMaster" Target="/ppt/notesMasters/notesMaster1.xml" Id="Rbe15faa2008e47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f41028b2294cd1" /><Relationship Type="http://schemas.openxmlformats.org/officeDocument/2006/relationships/notesMaster" Target="/ppt/notesMasters/notesMaster1.xml" Id="R79129250fc7a48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d8e08392924788" /><Relationship Type="http://schemas.openxmlformats.org/officeDocument/2006/relationships/notesMaster" Target="/ppt/notesMasters/notesMaster1.xml" Id="Rc49ca7d87f354a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24a74690a44628" /><Relationship Type="http://schemas.openxmlformats.org/officeDocument/2006/relationships/notesMaster" Target="/ppt/notesMasters/notesMaster1.xml" Id="Rd167c2fdbe794d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3872c6a9ac463b" /><Relationship Type="http://schemas.openxmlformats.org/officeDocument/2006/relationships/notesMaster" Target="/ppt/notesMasters/notesMaster1.xml" Id="Rb6663ba5114347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860e1534c743ca" /><Relationship Type="http://schemas.openxmlformats.org/officeDocument/2006/relationships/notesMaster" Target="/ppt/notesMasters/notesMaster1.xml" Id="R7076a96e685847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05bb7318f3463d" /><Relationship Type="http://schemas.openxmlformats.org/officeDocument/2006/relationships/notesMaster" Target="/ppt/notesMasters/notesMaster1.xml" Id="Rcd791d48205f4c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69b02e052f43c4" /><Relationship Type="http://schemas.openxmlformats.org/officeDocument/2006/relationships/notesMaster" Target="/ppt/notesMasters/notesMaster1.xml" Id="R9b948a99cbaa45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4100ea5e7a49cb" /><Relationship Type="http://schemas.openxmlformats.org/officeDocument/2006/relationships/notesMaster" Target="/ppt/notesMasters/notesMaster1.xml" Id="R7d0abc7f497545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1f08b326854a4a" /><Relationship Type="http://schemas.openxmlformats.org/officeDocument/2006/relationships/notesMaster" Target="/ppt/notesMasters/notesMaster1.xml" Id="R8c25a26aa6f342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1f480d488e48c6" /><Relationship Type="http://schemas.openxmlformats.org/officeDocument/2006/relationships/notesMaster" Target="/ppt/notesMasters/notesMaster1.xml" Id="R12bcb8fba90642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stating the real problem: multimodal registration fails when the same object has very different radiometric appearance across sensors.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motivate the project from an application viewpoint before going deep into the algorithms.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three core challenges: radiometric inversion, lack of standardized benchmarks, and sub-pixel accuracy needs.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research gap: fair cross-paradigm comparison under identical conditions is missing in much of the literature.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audience through Fig. 1 first, then point to Fig. 2 to explain why the deep method can model cross-modal structure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place to mention the from-scratch SASF implementation and unified evaluation design across all compared methods.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directly to the EO and SAR or NIR visuals to show why intuitive same-image matching assumptions do not 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table and bar charts together: the bars show separation quickly, and the table gives the exact numbers the examiners may ask about.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standout comparison: DISK achieves 1,196 correct matches versus only 37 for ORB, which is roughly 32.95 times higher.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Being explicit about limitations usually helps in viva discussions because it shows control over the scope of the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clear statement: learned features outperform handcrafted invariances for multimodal satellite registration.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asked for future scope, mention the target direction clearly: more than 99% CMR, below 0.5 px RMSE, and faster 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visible if your department expects formal references in the main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5965945f7476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D2DD0C3-7316-46F3-A7A7-88ED30E71B5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0F8E59-14CC-412F-BE5D-F5C407A965C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F61C9D-6D94-4C0A-8F86-6EDDAB69213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7EDDF8-D5FF-424C-8D38-90DEEB3B8E0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f19fb3628bf4a5c" /><Relationship Type="http://schemas.openxmlformats.org/officeDocument/2006/relationships/slideLayout" Target="/ppt/slideLayouts/slideLayout2.xml" Id="Rddbefc9b7fd14d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BEBA1D-F616-4CE1-90D6-36545A78CFC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efc9b7fd14d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ebe4ee3e974155" /><Relationship Type="http://schemas.openxmlformats.org/officeDocument/2006/relationships/image" Target="/ppt/media/image.png" Id="Rabcd2883a6094755" /><Relationship Type="http://schemas.openxmlformats.org/officeDocument/2006/relationships/notesSlide" Target="/ppt/notesSlides/notesSlide1.xml" Id="Rd2d00eca3c9241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7d6bde49b041c9" /><Relationship Type="http://schemas.openxmlformats.org/officeDocument/2006/relationships/image" Target="/ppt/media/image2.png" Id="Rff1638c311414d69" /><Relationship Type="http://schemas.openxmlformats.org/officeDocument/2006/relationships/notesSlide" Target="/ppt/notesSlides/notesSlide2.xml" Id="Rf6f7e38364d64a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0bfddd6cd044ef" /><Relationship Type="http://schemas.openxmlformats.org/officeDocument/2006/relationships/image" Target="/ppt/media/image3.png" Id="Re4685c77346c426f" /><Relationship Type="http://schemas.openxmlformats.org/officeDocument/2006/relationships/notesSlide" Target="/ppt/notesSlides/notesSlide3.xml" Id="Rc39b395293d0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bcfc5a3eb24a47" /><Relationship Type="http://schemas.openxmlformats.org/officeDocument/2006/relationships/image" Target="/ppt/media/image4.png" Id="R0d5bbf0c70794a1e" /><Relationship Type="http://schemas.openxmlformats.org/officeDocument/2006/relationships/notesSlide" Target="/ppt/notesSlides/notesSlide4.xml" Id="R93594253c5864b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3ea126c2194169" /><Relationship Type="http://schemas.openxmlformats.org/officeDocument/2006/relationships/image" Target="/ppt/media/image5.png" Id="R3db0452e967c4c95" /><Relationship Type="http://schemas.openxmlformats.org/officeDocument/2006/relationships/notesSlide" Target="/ppt/notesSlides/notesSlide5.xml" Id="Rf0b0bab09e5d4b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53570a823d4e88" /><Relationship Type="http://schemas.openxmlformats.org/officeDocument/2006/relationships/image" Target="/ppt/media/image6.png" Id="R96b033c9c63d43c8" /><Relationship Type="http://schemas.openxmlformats.org/officeDocument/2006/relationships/notesSlide" Target="/ppt/notesSlides/notesSlide6.xml" Id="R9075e60e2adb40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0678480229464e" /><Relationship Type="http://schemas.openxmlformats.org/officeDocument/2006/relationships/image" Target="/ppt/media/image7.png" Id="Rbd53280cdb4e427b" /><Relationship Type="http://schemas.openxmlformats.org/officeDocument/2006/relationships/notesSlide" Target="/ppt/notesSlides/notesSlide7.xml" Id="Rbe6eabdc1dc145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998f171a874675" /><Relationship Type="http://schemas.openxmlformats.org/officeDocument/2006/relationships/image" Target="/ppt/media/image8.png" Id="Re249add692c34c7b" /><Relationship Type="http://schemas.openxmlformats.org/officeDocument/2006/relationships/notesSlide" Target="/ppt/notesSlides/notesSlide8.xml" Id="R3ffcec91a00346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65e15299cf4758" /><Relationship Type="http://schemas.openxmlformats.org/officeDocument/2006/relationships/image" Target="/ppt/media/image9.png" Id="R86b12309b4014096" /><Relationship Type="http://schemas.openxmlformats.org/officeDocument/2006/relationships/notesSlide" Target="/ppt/notesSlides/notesSlide9.xml" Id="Re9d69b6e078243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37e46875954b4d" /><Relationship Type="http://schemas.openxmlformats.org/officeDocument/2006/relationships/image" Target="/ppt/media/image10.png" Id="Ra9050f84dfd4490c" /><Relationship Type="http://schemas.openxmlformats.org/officeDocument/2006/relationships/notesSlide" Target="/ppt/notesSlides/notesSlide10.xml" Id="R9d7b63d61f2247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c4037203fb4b1f" /><Relationship Type="http://schemas.openxmlformats.org/officeDocument/2006/relationships/image" Target="/ppt/media/image11.png" Id="R5f0900fb149f4b85" /><Relationship Type="http://schemas.openxmlformats.org/officeDocument/2006/relationships/notesSlide" Target="/ppt/notesSlides/notesSlide11.xml" Id="R6062abbdbf9849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5ee6527a2841b9" /><Relationship Type="http://schemas.openxmlformats.org/officeDocument/2006/relationships/image" Target="/ppt/media/image12.png" Id="R4d259adf430f4d6e" /><Relationship Type="http://schemas.openxmlformats.org/officeDocument/2006/relationships/notesSlide" Target="/ppt/notesSlides/notesSlide12.xml" Id="R1ac775555f024b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bc6198ddcb454b" /><Relationship Type="http://schemas.openxmlformats.org/officeDocument/2006/relationships/image" Target="/ppt/media/image13.png" Id="Rbe5b1830abec4309" /><Relationship Type="http://schemas.openxmlformats.org/officeDocument/2006/relationships/notesSlide" Target="/ppt/notesSlides/notesSlide13.xml" Id="Reff4eb1ecaa54b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d2883a60947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D5AD3-881C-487B-8809-2E6F5497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47AAA-46C8-44C3-8703-58D7BB5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F1B8D-534E-4A34-B346-5D6514D7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B.TECH FINAL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CB04E-1ED1-407B-B04E-3A0ED1B2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43A"/>
                </a:solidFill>
              </a:defRPr>
            </a:pPr>
            <a:r>
              <a:rPr sz="3600" b="1">
                <a:solidFill>
                  <a:srgbClr val="10243A"/>
                </a:solidFill>
              </a:rPr>
              <a:t>Multimodal Satellite Image Registration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680D8-9600-4952-98B2-355E8A69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A comparative study of classical feature-based methods and deep learning for EO versus SAR or NIR alignment.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E7E9B-D556-41E0-987C-A5FFED7C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B9F8F-D3AB-4D3F-92BC-92A96B1A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NN-DISK reached 98.19% CMR and 0.87 px RMSE.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01B86-FC32-4D9E-A98A-7E4E9259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869820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638c311414d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3F286-65C1-4DFE-8B2B-D2FECA1B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11DB1-045C-4C17-AC1E-E6E55F76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01  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3B25B-7343-4D83-B7B5-1FEB0662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02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25903-160B-4850-BFC0-053B6732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B1633-8204-4872-ABE3-3E7765A4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67457-8D82-4A4D-8B91-CD7BCA0D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Why This Problem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E4BB2-6005-47C1-9E42-B76205D3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Accurate cross-modal registration is the prerequisite for reliable remote-sensing analysis.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47E72-121E-4497-99FE-19E05691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66A56-65A6-4DCD-BF95-926B2C28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B8CA3-E951-4314-8EA8-03DB66EC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12DC7-CF3D-4D1A-B6BA-4454B121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45233-98BE-4984-95AC-E5AE535B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C2054-7890-4869-98A9-15E6A911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B7D4E-6512-4C14-B08E-CFFFF055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Domain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7BC42-584E-43C8-8996-32126809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Earth observation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constellations generate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terabytes of EO, SAR,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infrared, and multispectral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imagery every day for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mapping, agriculture, and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disaster response.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ABC0A-9413-492E-932C-F432D41D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4B071-4661-4611-87ED-72955F92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DCE56-10D2-43A3-80B6-BD8EB535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A8151-8329-4626-8BAF-670ED84A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26428-2F17-456C-A414-C054AEB3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4EB1F-FD17-457D-97B7-F6445022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BE10D4-4A9E-41C9-A9FF-74526634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Why registration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C4841E-F0BA-4522-B206-A4A4CDE9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These downstream tasks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depend on precise spatial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alignment. Mis-registered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inputs create false changes,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noisy overlays, and poor GIS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decisions.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2E044-99BA-49DF-8F9C-C5D25CC4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AAFCC-4CA1-4D28-9264-B93715FE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40A145-D17B-4FB9-BF20-C136988B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23C946-2BDC-4C60-8631-C1DCE266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3184EF-3805-400E-B617-B88F6EB8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EF7A97-E75A-4490-A400-06C1D88C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43B592-4892-45B1-A2DB-6F0E02B7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Why multimodal is hard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5BB122-1345-4BE4-BBC1-68F639F1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The same road can appear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bright in EO and dark in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SAR. Classical descriptors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built for same-sensor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imagery break under this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inversion.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21CC6B-8602-44A4-8D2A-1A2A2FDD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568871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85c77346c42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CBEDD-EB23-4D5A-8922-3D7CA25C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01E08-F2DB-4BFB-84D2-09B59200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02 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D4A07-3D84-4266-A852-5E020E1D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03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05791-E7F4-412B-88D4-CE6BC25D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B5E84-759D-44D1-A803-42F59BB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E18E3-E6B5-4145-A6BB-921DD5E4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Technical Challenge and Accuracy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77A74-10AC-4D6A-AE63-74739256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study compares multiple registration paradigms under one common evaluation pipeline.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8B380-4FE0-43EB-AEAB-C19519C4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F6520-3234-402E-87B8-E2909862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C07BB-B0D4-4319-846E-E5754935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2-3 px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9314D-774B-439B-A3FC-82FE0E2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Misalignment can already break GIS overlays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D97A7-CD4C-4D03-A11F-AB328BEF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At 0.5 m per pixel, even small shifts are costly.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DA855-0C88-4A21-A4F6-2A6CCCF3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4B40E-F1D7-402C-83A2-402AEF34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20117-BCC0-4435-A894-28D8C1A5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&lt;= 1 px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3A80C-11C4-4EB2-8579-840B9A7A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Professional photogrammetry 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1BA75-CE4B-41CD-87CF-C355CFD7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Sub-pixel error is the practical acceptance 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52BCC-0625-4AFE-BF70-AFA95329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53A52-2AE6-4AA5-99FC-3346DF1A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4BD2F5-0657-453A-AB3B-6A247524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6 methods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0B0C1B-2202-4151-9428-B08218D1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Unified comparison setting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05299-ED73-4823-948D-ED312080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Same preprocessing, matching logic, and RANSAC setup.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975CE7-A6E3-4F50-A4D2-3D54C892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567230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bbf0c70794a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A5A84-F0A1-46F6-84D3-D7A34B42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A7E64-08CC-464C-8F55-A238409A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03  LITERATURE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77B8A-A858-4ADD-9D20-3933DCD7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04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74DD9-79C3-40E1-9B6F-5BC596E4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A38FC-2C20-428C-864C-FA16716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E2DB2-3FBE-4FE5-A4EA-D2B4884B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What Earlier Work Gives 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FEAC1-BF82-4F25-82A2-0FEF204C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project spans fast classical baselines, multimodal descriptors, and learned local features.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00B6B-18DB-477C-8A3E-7C5DA709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0985B-7914-4CD0-A8F5-DE6858D2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B8B37-4911-4212-B15B-1B440D08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7E597-1304-47BD-BA37-980E7465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25194-8AB1-4D82-8D0C-4CDB7502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15733-D94F-40C5-ACB3-FDABF687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52F09-FC82-42DA-970E-0FC8EEB2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Classical baselines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CD5C7-63CE-4D6B-AB10-D6448214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SIFT, ORB, and BRISK provide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scale or speed advantages,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but their handcrafted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comparisons are vulnerable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when modality changes invert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intensities.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E8DD5-DA4C-4F7A-8FCC-4448CB06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DEE2B-2BF8-46CD-921F-4CCD887B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38A29-4600-4DCF-AC77-8D47D70B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2A1F06-0054-40EE-BDCD-D6F0DC2E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8C692-7F9E-41C9-948D-5A0B083D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1908D-8A6F-4432-8812-52CC9100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2DFF8-5805-42B7-93A3-B5E04F09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Multimodal classical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AB754-F2E2-4D44-8FFF-3E5D9F45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SASF improves robustness by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capturing structural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similarity through NCC-based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self-convolution instead of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relying only on raw pixel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intensity patterns.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C6E784-C75D-41C7-A77D-DA6C1A7A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25671-46AD-4227-BE8F-CC86626B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5585F-C1E1-4CBF-9671-C46ECB2E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1997E9-17A0-4BDE-B1ED-B0FCAC37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DD684-0F63-4092-B9A6-61CDF98D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3D117B-A438-4F93-A668-29E16B60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4022F1-789D-4064-9FB6-953E080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Learned descriptors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EA273C-86BE-47C3-B53B-EAE37ABD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SuperPoint and DISK show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that matchability can be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learned directly, making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deep methods the strongest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candidates for cross-modal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alignment.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4B995F-91B4-465C-B1E0-38B36A3E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88117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0452e967c4c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0AEA9-B750-4ACC-9513-3E1A233C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7B8C2-3C42-49D3-96DD-FB654477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04  METHODOLOGY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D294E-3B9E-4F7F-8EDB-D2BB0A7D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05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CB957-4ADB-48E2-BF8F-FE665B5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EAA56-59EA-4539-84D9-750F469F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ADEA2-91D7-4DED-98BC-6670EC3A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Registration Pipeline and DISK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73AA9-1B04-456E-B7D3-6A800DE6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PDF figures are preserved here because they capture both the generic pipeline and the deep network design.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16C23-117C-47A3-8CED-FB6126DB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71433-F539-4F30-A80A-6E9F50BF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4673F-06D7-4FF2-9018-01F065E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63244-CC87-472F-9838-CCEEF224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5CE53-D908-40C4-846B-0149DAEB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DED2F-2659-45EF-B161-59F22F42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5641F-57EB-4A2C-B68E-2DFDAF2A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Pipeline stages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AC761-60EC-4687-9F11-3A303205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Preprocess and downscale,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detect keypoints, extract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descriptors, match features,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reject outliers with Lowe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plus RANSAC, then estimate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homography and measure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error.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B1451-567F-4280-A34F-F09FE68F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CDA56-E613-4EEC-AF08-B5932D03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02EDD-7860-45B2-91C2-CEBE3D9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2A09E-D452-4F25-929D-6F9B094F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70BC5-714B-4A56-88D9-350F38A3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5D501C-FB21-4B4B-B6D4-FF4FD7EA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EA56C-75CB-447A-9515-EE1135B5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Deep model choice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7CA525-4ED2-4FAF-A634-31359506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DISK uses a U-Net style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encoder-decoder with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detector and descriptor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heads trained to maximize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correct correspondences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instead of a proxy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objective.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354BC-7B02-4751-BC0D-96B7A07E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44BBE4-AB5E-409E-B69F-57D7C089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B666B4-78C7-40EE-980A-EBD05E6C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E467C1-0958-473D-8CD5-C04D20CD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15A380-D5C3-4E61-A99D-7A82B64A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E2F165-70A6-400E-8353-1CDADC6E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9B52E2-55DF-46AA-B7A1-40FBFF82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Fixed settings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27DF91-45AD-42D5-AD17-A3F34DC2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Maximum image size is 2000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px, ratio test is 0.75 for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classical methods and 0.9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for DISK, and the RANSAC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reprojection threshold is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5.0 px.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66BC4F-5920-433B-85EF-7F0FB39F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716582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033c9c63d43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68E6F-0C8F-4F01-8E1D-C6C322E1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B734F-AE4D-410F-ADC6-6E316366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05 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1E3E3-553C-43A3-B492-A3C954C4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06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AD383-A972-494B-907D-FB7B9016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6C651-B764-4B1B-BF79-0B20B822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5A0FC-4AAA-4FCF-B585-6C6A09BC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Technical Stack and Main Contributions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F5CCC-11B9-402E-B5C1-4AB8A549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implementation combines OpenCV baselines with a custom SASF pipeline and PyTorch-based DISK inference.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EA9B7-25FF-468A-9860-585C7EAD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7A2BC-674D-44A0-AF2C-C4D4CA6F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216C5-E446-4857-99E8-4F22443D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Python 3.9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AF48E-AB3B-4816-B0D3-76D40C96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Core implementation 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25EA6-15D7-49CC-9EF6-302A7F72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OpenCV, NumPy, Matplotlib, PyTorch, and Kornia.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9DF14-DA78-4CC1-8C72-95C710A6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DBA37-7E5E-490E-9870-A3AC3505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3838E-02BE-4299-880C-1317D775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4 x 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7D322-EF6A-4F08-8165-7A740805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SASF ring-angle descriptor structure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4C90A-A229-434D-A24B-3CEC2A10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NCC over 4 rings and 16 angles drives the custom feature.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4A51E-4CFC-4D8B-89E2-0361C527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7E54F-2EAF-4D10-B110-A9289B9B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BA0B5-FE49-4372-8F9F-8C1D73FB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Top 80%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8D5DE-8627-4B22-9ABD-E26F03AD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Entropy-based saliency filtering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3C7FE-3D76-4844-AED3-ABB8DCA8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Keeps the most informative keypoints for SASF.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0A60D-315A-4B90-873C-A1FB9D74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380779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3280cdb4e42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FB041-EC60-4CC0-806D-DCFC37E7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1F6A0-2DCF-438B-98F0-EE67D12A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06 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991E3-A247-4D8B-999D-FE632159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07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31BBA-91A0-43B2-9BD4-76163F82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20934-F907-4A00-88F2-1D861092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E4BF4-909A-4441-841B-F03585DC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Dataset and Evaluation 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F56D5-58FA-4528-9662-6EC44298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same-scene EO and NIR or SAR pair makes the visual mismatch obvious while keeping geometry comparable.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175B9-734F-42D9-B253-2D5E76F0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AA6DF-1B54-4B02-917A-79099226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06915-5F7D-4668-84FC-EE4FD7D7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7C4F5-43A1-4B01-9C6F-DFA41062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DD605-20B6-4D7E-B92F-7E29D0D8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FBE30-E1EF-4322-84EC-4F205F4C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74FEF-D266-449B-BBF4-80D9EBB1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Image pair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323F4-6F1A-42AB-AC2D-654E4FB7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One EO versus NIR or SAR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pair from the same scene is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used to test how each method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handles strong appearance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change with shared spatial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content.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DA22C-0C12-483A-B285-E9CDFAD3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D5213-5C01-4E67-82D4-A538883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6540C-17B9-4FEE-9DA7-78EF0607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3E4FA-94F5-409C-BBC2-BB27AD4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A1E6B-027D-49CF-A8A2-1E53B7AB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EE783-773F-4997-BDEB-3CF031C5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C8008C-8891-4737-B607-7AFA2DA4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Compared methods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B5C9A-ED00-4176-9171-8EFEF423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SIFT, ORB, BRISK, SASF, CNN,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and NN-DISK are run inside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one standardized pipeline so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the comparison stays fair.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AD301-D7A5-45FA-952E-7F13D3DD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EE5175-D3FC-4760-BEEE-B0AC7C12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CBADA1-2EEF-4C21-94C2-C5DADC49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8286FD-3D5F-4605-BA10-14CD2B4B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32971-409B-4B16-8072-A549EF76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21E9D-6C40-48A6-B8ED-22E44BAF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40EB6A-D20E-4562-A303-F3CF069E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0D529-1430-499F-BF72-4A8FDF60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Keypoint count tracks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detections, CMR measures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inlier quality after RANSAC,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and RMSE captures the final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geometric accuracy in pixels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and meters.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FC06CB-8CE9-4F25-BCEC-CF274321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84093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9add692c34c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BB826-7273-41A9-A2B9-BDA76607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DC254-B040-4749-8103-4D33C9B4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07 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7AF3C-62F1-4ECB-BA66-1F83B8A3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08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CD5E0-2455-4627-9C57-63A1F69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CC79C-4DD7-4664-A419-47F2986B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AF63D-04A8-4746-948F-89A73B5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Quantitative Results Across Algorithms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3A992-25B0-4532-BA88-A57E4665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This slide preserves the original charts because they are the strongest visual evidence in the presentation.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D700F-E58A-4EA4-93C2-97E8F3E7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05B2D-A143-4F5D-863A-89C34B1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285A6-468B-4A58-830B-7DBA16A3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98.19%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0D2C4-CA7F-4246-931F-CCD1B63B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Correct matching rate for NN-DISK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42CE6-05E3-408D-A0EF-7BA81F50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Highest by a very large margin.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742E0-42B7-45CD-A368-81381893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C7E9B-7919-4F97-898C-041F579C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35C93-F655-4DB6-89F0-0884B06B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0.87 px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CDA05-CC5D-4ECE-BABE-4210DC17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RMSE for NN-DISK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B02E0-E932-460C-84C2-11BC344D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Only method below the 1 px threshold.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AEE8C-D31B-440C-92B8-493C21AF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2CFDD8-3DC4-47B4-A127-010CDB0D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82B32-A189-4CEE-9133-72F917F2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0.44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FA9F6-5B04-4B9B-BEBE-8AB154C9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Ground error at 0.5 m per pixel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2FCB7-AC23-4539-BDB2-DCBE3021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Best practical outcome for mapping tasks.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1B5468-1606-4345-9B51-F8159B23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99566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12309b40140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8C338-9EE5-41AA-9D53-73035A6D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1BD94-8BF3-4E09-B235-12B81346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08 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8470E-9F88-4E75-97FA-FA542024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09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1A7EC-F677-4147-80A1-2AF34E06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311F1-F150-42A2-8DFE-278D327C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BA9ED-186B-4600-BEE8-90F5C2A2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Why DISK Performs So Much Better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D7B46-BF6A-42BF-A20E-843E4C8C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chart and bullets together explain the gap between handcrafted descriptors and learned matchability.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D7CBF-D8D6-4E50-A942-80DAE639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E41E7-A20D-43DF-B37C-ACFA37B5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EC155-5BBB-4726-A80E-691AF1FE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22BA5-0061-4F2F-AC3C-A18BB499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A998C-C6FE-430C-94D5-AB393A5D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E1C10-D657-41C8-AEDE-BC109F09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83BFF-CB8C-4F72-8E8D-41561C0A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Why ORB and BRISK 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2055C-E04E-45A9-95B6-C55B366C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Binary intensity comparisons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flip sign under cross-modal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inversion, so they produce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many unstable matches even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when the physical scene is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the same.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4E7B1-8A3D-4879-902F-09657B6F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33D22-2952-41FB-811F-7B7AADFB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41219-E727-4E08-8800-589BD0AA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A8C0B-2EF8-4ADF-BB0E-F1876B36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60BC4-2F47-41C2-815C-916BBE45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A66B3-E50B-4C1D-B5DF-306C99CE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40D280-28D6-4A48-97AD-E18ED495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Why SASF improves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0733B6-3843-450D-B1EC-C8DB36EB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SASF uses structural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similarity rather than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direct radiometric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agreement, so it becomes the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strongest classical option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 the experiment.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ECFEEB-4A85-4569-93EF-4A3019E5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CB8528-BCF1-49E2-BDDA-47FFC551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C1A91-E8FB-4597-9B1A-CD850BB2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F7FEF7-5526-4C34-B06E-0786C3B4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049DCE-FF68-411E-8449-A25D6070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B3E28-FB10-453C-ACE4-581F63A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1FBAD7-6BE7-4B7F-9CA0-05FE5C87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Why DISK wins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0DE63B-F244-488D-9947-619B912D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DISK learns detector and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descriptor behavior jointly,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uses broader context through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the network, and works with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cycle-consistent matching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before RANSAC.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253C46-24E7-4B91-8B19-733B97E9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0276385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50f84dfd449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5F786-BBE3-4C4A-BF51-1468F010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8D9AE-6C8B-4380-A8EE-45ACA637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09 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E486F-90CE-436D-8CD3-CFD9EEE8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10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23556-807B-4B95-B7D7-63095A07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45897-4566-41B5-8D50-766C2500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B8535-B844-4CBB-8E66-B90E6C58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Current Constraints of the Study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F6C2B-AB8E-4A6A-BCD8-9949729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result is strong, but the evaluation still has scope and deployment limitations that should be stated openly.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214F8-E129-4D01-A963-CAF405F5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446D7-435C-4D58-A5DF-41D79FC5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C5899-6E3B-4A23-AD5B-A95D557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4C2CB-36E9-496C-A49C-80F01DCA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8C648-D763-4A68-A75E-63A328F6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DC882-28EE-4A81-9062-AFBD3CC7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34B4A-BA18-4E28-AD41-432F8DC8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Limited data breadth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BDC2B-C586-4D1B-BE99-AAE733A6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Only one EO versus NIR 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SAR pair was evaluated, so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generalization to new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regions, seasons, and sensor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pairs still needs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validation.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3B096-E2EC-435C-B456-2B55C9B1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BB0A9-99FD-4E1E-952F-C40832BE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03D77A-AB4D-4693-BBD9-68ED5DE1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29CC0-96B7-4372-ACD1-E820E6A0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CAE88-F5F4-4069-9BF0-80651190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80C47-A080-42C5-9291-40521856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01181-D5BB-46F8-99C0-7940C33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Runtime cost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DA28F-9A80-4C87-B4DF-F596A708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NN-DISK takes about 60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seconds on CPU, while OpenCV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baselines finish in under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0.2 seconds and SASF takes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roughly 6 seconds.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BDA160-1126-498A-A8EF-97984804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CCF02-49D0-4F6B-8AC2-EF1CBFF6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4020C3-D142-4178-A7F1-2AD74D4D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44FB4-1EAA-42EA-BEC1-B3C15BDE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B9776B-C088-45D2-B233-C385BECB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6A5DFB-BE20-42E8-B3A9-F83847A2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DEEBDB-162B-4AFC-9E82-A4F56190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Model assumption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3000A3-BDE7-4EEA-9EC3-D348E69F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Homography assumes a mostly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planar scene, and DISK was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not fine-tuned specifically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on satellite EO-SAR data.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9EAD1E-C62A-47F1-B5C8-D2842C0C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9445170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900fb149f4b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C655F-001C-4B83-8A2F-DF9C6599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063FC-34FA-48EE-BCF6-13A81243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10 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CD7A2-D8D2-45B3-AA24-14851B7A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11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0A709-9F6D-4280-BA18-A650774C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1BCD7-A453-4E32-9622-BC0664AF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63E21-535E-4278-8C77-D2BCAB4A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Core Takeaways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54D93-B7AF-4BA1-BDA0-DD693E43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deep-learning approach produces a categorical improvement rather than a small incremental gain.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59001-1CC9-46A8-A56D-16D941CF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A763D-2A49-4F7E-A136-3D95CBF9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96C9B-0301-41D0-B085-8F65BE87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32.95x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EFD2E-A58A-4A56-995A-09EE22DF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More correct matches than ORB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4C4F5-CFBE-47E7-B327-9FC7A72A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1,196 versus 37 after geometric verification.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2C29A-09A3-4997-8C4D-7666BA94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C8C66-4157-4874-9214-AD340374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C4E54-5754-4069-BF12-64E524B9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7x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F6FED-2751-4CE4-934B-3B1BDD4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Lower RMSE than the best classical method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A3167-DE83-4620-9CDA-C0C6B74D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NN-DISK versus SASF in the final comparison.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1A212-C804-45CC-B745-978B0133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1D4AB-A8D5-4623-919A-49DA59B9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AA8E5-6B8C-42AD-807F-55DA1222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21.9%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57E93-5E91-4042-8740-6604837F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Best classical CMR from SASF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2309B-2BDE-4F72-B0E7-7B472172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Useful fallback when deep infrastructure is unavailable.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5B69E-AB71-4EA6-8F21-37BC40F4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52638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59adf430f4d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00CBF-AB0E-47D4-8CE5-32A4368A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04173-BF84-4CBD-84DC-959F3EF5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11  FUTURE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652EB-F0E4-42BF-A92A-889FEF13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12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ECAE2-0665-4D26-844A-64AE41D2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FBE05-01B5-409D-9BDD-9E1016FB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8B03F-863F-442E-ACE2-5F217AC9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Where This Can Go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DF155-BB15-464F-8657-3F044354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roadmap now is about better matchers, larger datasets, and deployment-ready inference.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0B207-F690-4737-B7BF-784AB668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44747-08FA-4A47-8E47-9DB4FFC7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B4602-FA76-4CDA-BF0D-10C2124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F2B83-184B-4BED-BE66-C91E58D4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479EA-B689-4D08-98ED-CB056D1E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2042A-8928-49D1-8880-5753C94D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76B27-1DF6-42D2-95A4-BD764523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Better matching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9CCD9-5ACB-4A3A-AE93-867074E4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Replace soft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nearest-neighbour matching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with LightGlue-style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transformer matching for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stronger context-aware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correspondences.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7D326-AE47-4B46-A8A1-AA9CDE7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4FC62-4CE5-40EA-B492-44D9C2A8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5FD79-60FF-477A-A823-1D4375CB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DBBB6-291F-4E72-AC0E-48D6A194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BDE28-1120-4FC1-8E21-30C1CB7F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9B810-1F75-4437-8A4D-627259ED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72DCFA-34FB-4681-A329-3DE9DA46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Better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5678F-A1E8-4C10-A095-0C471CF2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Fine-tune on curated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Sentinel-1 and Sentinel-2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multimodal pairs to adapt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the learned features to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satellite-specific texture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and noise.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4C5B3-69F6-4E94-964F-B3606E82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96B5A4-FAA9-4F06-81D8-EDC7B0A3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6758F0-FDFD-4AB2-9F37-2AE8B50E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4359F-D35F-4EA0-94A8-2E9C8640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4C68C7-1F64-4F19-8F57-B9B72D60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E1ED31-80E1-4065-BE3D-BE764B37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9956AC-8B12-48BC-8176-5FEBE269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Better deployment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440C4B-C77C-43E4-9D36-93282385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Use tiling, quantization,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and TensorRT or Jetson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deployment to push the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method toward real-time 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near-real-time use.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F07048-FE71-497A-A4A6-A03FF312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5168391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63193-FCA6-46F7-8CE2-DD90C394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b1830abec43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E0C29-49C1-4499-B108-13BB8356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88179-D763-45F6-B1EC-F9E44C7C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12  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5EA72-A739-4D2A-82FA-A77C4658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13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A847A-60BA-4435-9519-322BD968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77876-CF1B-4F99-80D8-375D5AE1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7635C-EC31-44BD-9294-192C8FC7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Key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D5E35-25FB-416B-BDD4-618EF0C1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project is grounded in foundational local features, multimodal remote-sensing registration, and robust geometric fitting.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6B5D1-E3C9-4B94-9D4D-6F22320F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4C9BB-C296-40A2-93E1-E5134075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8C40D-C072-4682-BAC2-24DA179A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EA543-7A5A-4547-9A62-36F5482C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B6C39-F0C2-47C6-A653-9FC955CC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42D52-0FBE-464B-9519-64177CA6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59E24-DA21-45E9-ACD9-1C4A2DB6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Foundations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A21E3-C5E9-43FB-A44D-E562877B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Lowe 2004 for SIFT, Rublee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et al. 2011 for ORB, and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Leutenegger et al. 2011 for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BRISK establish the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classical feature baseline.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AF03F-F2CF-4A64-AC28-F97AA440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C7C51-0328-4D1C-82D4-63BDC806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75DE4-DA89-4262-8D21-F355A4D9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EAF2C-E55B-4C76-B29B-11C798AD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DC4E3-86A4-49EC-9123-743C1194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12470-116D-4F88-92A5-8276F26A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6F2DC-516D-4BC7-A551-2215ADD4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Multimodal and learned features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F16CEA-9968-4D68-B342-CC530830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Ye et al. 2017 motivates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SASF for multimodal sensing,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while DeTone et al. 2018 and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Tyszkiewicz et al. 2020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frame the learned feature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direction.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A5C0CF-AA2B-4D48-9C42-BC8C700A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1D787D-B0CA-4D34-ABE6-4F994F52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BD5D7C-5C00-4FAD-AFE8-2AF75C54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0FA213-AE39-4587-99B8-BBB4AFD7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BF8590-1D1C-4D66-AEDD-84B6B271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5AB4B4-E78F-4DB6-8A88-08AD9384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992BFB-03B4-463E-8827-4CAF3D36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Robust estimation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409FF3-E40C-4C57-8FAA-79B9CD9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Fischler and Bolles 1981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remains the geometric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backbone through RANSAC,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which turns tentative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matches into valid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homography inliers.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91AFCF-BFFC-4B64-BF24-1543D8EF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 visuals are preserved from the original project PDF; text hierarchy and layout are rebuilt for clearer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497948553"/>
      </p:ext>
    </p:extLst>
  </p:cSld>
</p:sld>
</file>

<file path=ppt/theme/theme1.xml><?xml version="1.0" encoding="utf-8"?>
<a:theme xmlns:a="http://schemas.openxmlformats.org/drawingml/2006/main" name="Rhan Viva Theme">
  <a:themeElements>
    <a:clrScheme name="Rhan Viva Theme">
      <a:accent1>
        <a:srgbClr val="1D8A68"/>
      </a:accent1>
      <a:accent2>
        <a:srgbClr val="D89B28"/>
      </a:accent2>
      <a:accent3>
        <a:srgbClr val="C85F4F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han Viva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2026-04-19T17:16:48.4880000Z</dcterms:created>
  <dcterms:modified xsi:type="dcterms:W3CDTF">2026-04-19T17:16:48.4880000Z</dcterms:modified>
</coreProperties>
</file>