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6bc9aa2ccc4246" /><Relationship Type="http://schemas.openxmlformats.org/officeDocument/2006/relationships/extended-properties" Target="/docProps/app.xml" Id="R6f321c5400e8496f" /><Relationship Type="http://schemas.openxmlformats.org/officeDocument/2006/relationships/officeDocument" Target="/ppt/presentation.xml" Id="R40755a710d9743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ae82f7febb4c9b"/>
  </p:sldMasterIdLst>
  <p:notesMasterIdLst>
    <p:notesMasterId xmlns:r="http://schemas.openxmlformats.org/officeDocument/2006/relationships" r:id="R38c377e33a99401a"/>
  </p:notesMasterIdLst>
  <p:sldIdLst>
    <p:sldId xmlns:r="http://schemas.openxmlformats.org/officeDocument/2006/relationships" id="256" r:id="R59eca3cd53384893"/>
    <p:sldId xmlns:r="http://schemas.openxmlformats.org/officeDocument/2006/relationships" id="257" r:id="R144971dde8e34adf"/>
    <p:sldId xmlns:r="http://schemas.openxmlformats.org/officeDocument/2006/relationships" id="258" r:id="Rc261a6fd05b440e5"/>
    <p:sldId xmlns:r="http://schemas.openxmlformats.org/officeDocument/2006/relationships" id="259" r:id="Rb7da7954ddbc4d4a"/>
    <p:sldId xmlns:r="http://schemas.openxmlformats.org/officeDocument/2006/relationships" id="260" r:id="Rf768f70ef69746af"/>
    <p:sldId xmlns:r="http://schemas.openxmlformats.org/officeDocument/2006/relationships" id="261" r:id="R9ff366e9410c411a"/>
    <p:sldId xmlns:r="http://schemas.openxmlformats.org/officeDocument/2006/relationships" id="262" r:id="Rc1a230962a124803"/>
    <p:sldId xmlns:r="http://schemas.openxmlformats.org/officeDocument/2006/relationships" id="263" r:id="R069c3e7b7ea94f11"/>
    <p:sldId xmlns:r="http://schemas.openxmlformats.org/officeDocument/2006/relationships" id="264" r:id="Rc4796dbf4be642bd"/>
    <p:sldId xmlns:r="http://schemas.openxmlformats.org/officeDocument/2006/relationships" id="265" r:id="Re7fc100682f248bc"/>
    <p:sldId xmlns:r="http://schemas.openxmlformats.org/officeDocument/2006/relationships" id="266" r:id="R90d2b3cce24e4087"/>
    <p:sldId xmlns:r="http://schemas.openxmlformats.org/officeDocument/2006/relationships" id="267" r:id="Rc64afef4cff74331"/>
    <p:sldId xmlns:r="http://schemas.openxmlformats.org/officeDocument/2006/relationships" id="268" r:id="R5ed869f7cb2142a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ae82f7febb4c9b" /><Relationship Type="http://schemas.openxmlformats.org/officeDocument/2006/relationships/theme" Target="/ppt/theme/theme1.xml" Id="R85c234bc4ac249fb" /><Relationship Type="http://schemas.openxmlformats.org/officeDocument/2006/relationships/notesMaster" Target="/ppt/notesMasters/notesMaster1.xml" Id="R38c377e33a99401a" /><Relationship Type="http://schemas.openxmlformats.org/officeDocument/2006/relationships/presProps" Target="/ppt/presProps.xml" Id="Rd76d78b325f54b47" /><Relationship Type="http://schemas.openxmlformats.org/officeDocument/2006/relationships/viewProps" Target="/ppt/viewProps.xml" Id="Rce4a46b0fa2247e5" /><Relationship Type="http://schemas.openxmlformats.org/officeDocument/2006/relationships/tableStyles" Target="/ppt/tableStyles.xml" Id="Ra226323c83914e9c" /><Relationship Type="http://schemas.openxmlformats.org/officeDocument/2006/relationships/slide" Target="/ppt/slides/slide1.xml" Id="R59eca3cd53384893" /><Relationship Type="http://schemas.openxmlformats.org/officeDocument/2006/relationships/slide" Target="/ppt/slides/slide2.xml" Id="R144971dde8e34adf" /><Relationship Type="http://schemas.openxmlformats.org/officeDocument/2006/relationships/slide" Target="/ppt/slides/slide3.xml" Id="Rc261a6fd05b440e5" /><Relationship Type="http://schemas.openxmlformats.org/officeDocument/2006/relationships/slide" Target="/ppt/slides/slide4.xml" Id="Rb7da7954ddbc4d4a" /><Relationship Type="http://schemas.openxmlformats.org/officeDocument/2006/relationships/slide" Target="/ppt/slides/slide5.xml" Id="Rf768f70ef69746af" /><Relationship Type="http://schemas.openxmlformats.org/officeDocument/2006/relationships/slide" Target="/ppt/slides/slide6.xml" Id="R9ff366e9410c411a" /><Relationship Type="http://schemas.openxmlformats.org/officeDocument/2006/relationships/slide" Target="/ppt/slides/slide7.xml" Id="Rc1a230962a124803" /><Relationship Type="http://schemas.openxmlformats.org/officeDocument/2006/relationships/slide" Target="/ppt/slides/slide8.xml" Id="R069c3e7b7ea94f11" /><Relationship Type="http://schemas.openxmlformats.org/officeDocument/2006/relationships/slide" Target="/ppt/slides/slide9.xml" Id="Rc4796dbf4be642bd" /><Relationship Type="http://schemas.openxmlformats.org/officeDocument/2006/relationships/slide" Target="/ppt/slides/slide10.xml" Id="Re7fc100682f248bc" /><Relationship Type="http://schemas.openxmlformats.org/officeDocument/2006/relationships/slide" Target="/ppt/slides/slide11.xml" Id="R90d2b3cce24e4087" /><Relationship Type="http://schemas.openxmlformats.org/officeDocument/2006/relationships/slide" Target="/ppt/slides/slide12.xml" Id="Rc64afef4cff74331" /><Relationship Type="http://schemas.openxmlformats.org/officeDocument/2006/relationships/slide" Target="/ppt/slides/slide13.xml" Id="R5ed869f7cb2142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25a508d161a48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Rhan Viva Theme">
  <a:themeElements>
    <a:clrScheme name="Rhan Viva Theme">
      <a:accent1>
        <a:srgbClr val="1D8A68"/>
      </a:accent1>
      <a:accent2>
        <a:srgbClr val="D89B28"/>
      </a:accent2>
      <a:accent3>
        <a:srgbClr val="C85F4F"/>
      </a:accent3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Rhan Viva Them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c48907884f4f0a" /><Relationship Type="http://schemas.openxmlformats.org/officeDocument/2006/relationships/notesMaster" Target="/ppt/notesMasters/notesMaster1.xml" Id="R5e8d529c0b2147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da2c690c474d5d" /><Relationship Type="http://schemas.openxmlformats.org/officeDocument/2006/relationships/notesMaster" Target="/ppt/notesMasters/notesMaster1.xml" Id="R7c76daac49dc4c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742e24bc8342aa" /><Relationship Type="http://schemas.openxmlformats.org/officeDocument/2006/relationships/notesMaster" Target="/ppt/notesMasters/notesMaster1.xml" Id="R4a20232a3a7a4ee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1e72a7a6a74175" /><Relationship Type="http://schemas.openxmlformats.org/officeDocument/2006/relationships/notesMaster" Target="/ppt/notesMasters/notesMaster1.xml" Id="R127d6385ea8844f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5a86a56b1b641c1" /><Relationship Type="http://schemas.openxmlformats.org/officeDocument/2006/relationships/notesMaster" Target="/ppt/notesMasters/notesMaster1.xml" Id="Rbe4e66ac52c94d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c38c1cd8114afc" /><Relationship Type="http://schemas.openxmlformats.org/officeDocument/2006/relationships/notesMaster" Target="/ppt/notesMasters/notesMaster1.xml" Id="R64086a88ce794a9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797cf54a5164b47" /><Relationship Type="http://schemas.openxmlformats.org/officeDocument/2006/relationships/notesMaster" Target="/ppt/notesMasters/notesMaster1.xml" Id="Ra6f4b514f0524de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d85ad38df824dfc" /><Relationship Type="http://schemas.openxmlformats.org/officeDocument/2006/relationships/notesMaster" Target="/ppt/notesMasters/notesMaster1.xml" Id="R955c1949a07149e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a65cb9c8f074bf7" /><Relationship Type="http://schemas.openxmlformats.org/officeDocument/2006/relationships/notesMaster" Target="/ppt/notesMasters/notesMaster1.xml" Id="R8ffe2a2c42034ec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f87217960664e4b" /><Relationship Type="http://schemas.openxmlformats.org/officeDocument/2006/relationships/notesMaster" Target="/ppt/notesMasters/notesMaster1.xml" Id="R4bd4a60859ec458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5c26bb719bd4dea" /><Relationship Type="http://schemas.openxmlformats.org/officeDocument/2006/relationships/notesMaster" Target="/ppt/notesMasters/notesMaster1.xml" Id="R5ce8757b38fa4fe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b490c8f9ec947c7" /><Relationship Type="http://schemas.openxmlformats.org/officeDocument/2006/relationships/notesMaster" Target="/ppt/notesMasters/notesMaster1.xml" Id="R36057563ed5e4af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cea26bfec6a47cd" /><Relationship Type="http://schemas.openxmlformats.org/officeDocument/2006/relationships/notesMaster" Target="/ppt/notesMasters/notesMaster1.xml" Id="R3966281db58745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stating the real problem: multimodal registration fails when the same object has very different radiometric appearance across sensors.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Rhan final-year project PDF, NIT Warangal, Academic Year 2025-26.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motivate the project from an application viewpoint before going deep into the algorithms.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Rhan final-year project PDF, NIT Warangal, Academic Year 2025-26.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the three core challenges: radiometric inversion, lack of standardized benchmarks, and sub-pixel accuracy needs.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Rhan final-year project PDF, NIT Warangal, Academic Year 2025-26.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Call out the research gap: fair cross-paradigm comparison under identical conditions is missing in much of the literature.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Rhan final-year project PDF, NIT Warangal, Academic Year 2025-26.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the audience through Fig. 1 first, then point to Fig. 2 to explain why the deep method can model cross-modal structure better.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Rhan final-year project PDF, NIT Warangal, Academic Year 2025-26.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place to mention the from-scratch SASF implementation and unified evaluation design across all compared methods.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Rhan final-year project PDF, NIT Warangal, Academic Year 2025-26.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directly to the EO and SAR or NIR visuals to show why intuitive same-image matching assumptions do not hold.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Rhan final-year project PDF, NIT Warangal, Academic Year 2025-26.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table and bar charts together: the bars show separation quickly, and the table gives the exact numbers the examiners may ask about.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Rhan final-year project PDF, NIT Warangal, Academic Year 2025-26.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Mention the standout comparison: DISK achieves 1,196 correct matches versus only 37 for ORB, which is roughly 32.95 times higher.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Rhan final-year project PDF, NIT Warangal, Academic Year 2025-26.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Being explicit about limitations usually helps in viva discussions because it shows control over the scope of the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Rhan final-year project PDF, NIT Warangal, Academic Year 2025-26.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with a clear statement: learned features outperform handcrafted invariances for multimodal satellite registration.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Rhan final-year project PDF, NIT Warangal, Academic Year 2025-26.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If asked for future scope, mention the target direction clearly: more than 99% CMR, below 0.5 px RMSE, and faster inference.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Rhan final-year project PDF, NIT Warangal, Academic Year 2025-26.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slide visible if your department expects formal references in the main deck.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Rhan final-year project PDF, NIT Warangal, Academic Year 2025-26.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556bcb841346f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47B156C9-6DAD-4690-BBC9-D117DB232183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80E041BA-A61A-4C36-9C5A-20E2335BD8BE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3A32781-1BCB-4658-AF88-9CD538A2C7A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00F4CE7-61D1-48FA-8782-2644E7FEFD45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96EA113-DFED-4B5D-8A1C-E95625EE254D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c2c45cc34e84b22" /><Relationship Type="http://schemas.openxmlformats.org/officeDocument/2006/relationships/slideLayout" Target="/ppt/slideLayouts/slideLayout2.xml" Id="R9473c995957b48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A35946B-BFB8-4FAC-B880-4CCADEE8A5D1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73c995957b48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a67d8284644e1c" /><Relationship Type="http://schemas.openxmlformats.org/officeDocument/2006/relationships/image" Target="/ppt/media/image.png" Id="Rb24d17a5840d4fdd" /><Relationship Type="http://schemas.openxmlformats.org/officeDocument/2006/relationships/notesSlide" Target="/ppt/notesSlides/notesSlide1.xml" Id="R5e6e7a59f5fb4f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230be79fbd4727" /><Relationship Type="http://schemas.openxmlformats.org/officeDocument/2006/relationships/notesSlide" Target="/ppt/notesSlides/notesSlide2.xml" Id="R65e801285f1d4d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411bd9fbab40d1" /><Relationship Type="http://schemas.openxmlformats.org/officeDocument/2006/relationships/notesSlide" Target="/ppt/notesSlides/notesSlide3.xml" Id="Rdb018779737c48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dfbec56aa1407d" /><Relationship Type="http://schemas.openxmlformats.org/officeDocument/2006/relationships/notesSlide" Target="/ppt/notesSlides/notesSlide4.xml" Id="R2745e36a86384e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e440ed01a74259" /><Relationship Type="http://schemas.openxmlformats.org/officeDocument/2006/relationships/image" Target="/ppt/media/image2.png" Id="R51459a7d8e0d44b6" /><Relationship Type="http://schemas.openxmlformats.org/officeDocument/2006/relationships/notesSlide" Target="/ppt/notesSlides/notesSlide5.xml" Id="Ra3b8b5e55210466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02137cdf0246dc" /><Relationship Type="http://schemas.openxmlformats.org/officeDocument/2006/relationships/notesSlide" Target="/ppt/notesSlides/notesSlide6.xml" Id="R76e34ad6d021465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dd4c1376e34de3" /><Relationship Type="http://schemas.openxmlformats.org/officeDocument/2006/relationships/image" Target="/ppt/media/image3.png" Id="R5c8a557a5cf0451c" /><Relationship Type="http://schemas.openxmlformats.org/officeDocument/2006/relationships/notesSlide" Target="/ppt/notesSlides/notesSlide7.xml" Id="R4c711563358f43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f5457e71ca4e3b" /><Relationship Type="http://schemas.openxmlformats.org/officeDocument/2006/relationships/image" Target="/ppt/media/image4.png" Id="R56cb0093803d46ad" /><Relationship Type="http://schemas.openxmlformats.org/officeDocument/2006/relationships/notesSlide" Target="/ppt/notesSlides/notesSlide8.xml" Id="R63662a77310e4ff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5d4cf8c2644106" /><Relationship Type="http://schemas.openxmlformats.org/officeDocument/2006/relationships/image" Target="/ppt/media/image5.png" Id="Rf3c1374deb124be4" /><Relationship Type="http://schemas.openxmlformats.org/officeDocument/2006/relationships/notesSlide" Target="/ppt/notesSlides/notesSlide9.xml" Id="R89ac5616aab84bb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50f17b8e054055" /><Relationship Type="http://schemas.openxmlformats.org/officeDocument/2006/relationships/notesSlide" Target="/ppt/notesSlides/notesSlide10.xml" Id="Re56fede622f24be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c470c275a24fe1" /><Relationship Type="http://schemas.openxmlformats.org/officeDocument/2006/relationships/notesSlide" Target="/ppt/notesSlides/notesSlide11.xml" Id="R588c978c971c4ce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bdd8e849b446d5" /><Relationship Type="http://schemas.openxmlformats.org/officeDocument/2006/relationships/notesSlide" Target="/ppt/notesSlides/notesSlide12.xml" Id="Rf967646fe13d458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08ff706b674ba5" /><Relationship Type="http://schemas.openxmlformats.org/officeDocument/2006/relationships/notesSlide" Target="/ppt/notesSlides/notesSlide13.xml" Id="R7ea06f6322344f1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96EA113-DFED-4B5D-8A1C-E95625EE254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4FA577-ADB6-4389-91F4-998DB327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143000"/>
            <a:ext cx="40957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4d17a5840d4fdd"/>
          <a:stretch xmlns:a="http://schemas.openxmlformats.org/drawingml/2006/main"/>
        </p:blipFill>
        <p:spPr>
          <a:xfrm xmlns:a="http://schemas.openxmlformats.org/drawingml/2006/main">
            <a:off x="7639050" y="2092523"/>
            <a:ext cx="3905250" cy="219670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DEF671-AD7A-4A3D-8C26-1B0740BB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295900"/>
            <a:ext cx="3790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Project cover from source report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977BC7-3705-4C21-A5D2-0F6F8953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249D7B-8AA8-42B5-83E3-8ED43281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38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5C46"/>
                </a:solidFill>
              </a:defRPr>
            </a:pPr>
            <a:r>
              <a:rPr sz="975" b="1">
                <a:solidFill>
                  <a:srgbClr val="0F5C46"/>
                </a:solidFill>
              </a:rPr>
              <a:t>B.TECH FINAL PROJECT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42BA8F-6968-4AC6-BE21-351AF335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747712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43A"/>
                </a:solidFill>
              </a:defRPr>
            </a:pPr>
            <a:r>
              <a:rPr sz="3600" b="1">
                <a:solidFill>
                  <a:srgbClr val="10243A"/>
                </a:solidFill>
              </a:rPr>
              <a:t>Multimodal Satellite Image Registration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28F5AF-3386-4F85-8A3B-2A34A14B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581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44054"/>
                </a:solidFill>
              </a:defRPr>
            </a:pPr>
            <a:r>
              <a:rPr sz="1500" b="0">
                <a:solidFill>
                  <a:srgbClr val="344054"/>
                </a:solidFill>
              </a:rPr>
              <a:t>A comparative study of classical feature-based methods and deep learning for EO versus SAR or NIR alignment.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83EC2E-2671-45BE-80E0-34465DFB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3714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485BBB-D423-44BF-B643-D1EC12B0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320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43A"/>
                </a:solidFill>
              </a:defRPr>
            </a:pPr>
            <a:r>
              <a:rPr sz="1725" b="1">
                <a:solidFill>
                  <a:srgbClr val="10243A"/>
                </a:solidFill>
              </a:rPr>
              <a:t>NN-DISK reached 98.19% CMR and 0.87 px RMSE.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0F3F23-CFFD-4BAF-8660-1D481F56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Slide rebuilt with a clean layout for presentation clarity.</a:t>
            </a:r>
          </a:p>
        </p:txBody>
      </p:sp>
    </p:spTree>
    <p:extLst>
      <p:ext uri="{BB962C8B-B14F-4D97-AF65-F5344CB8AC3E}">
        <p14:creationId xmlns:p14="http://schemas.microsoft.com/office/powerpoint/2010/main" val="20583348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96EA113-DFED-4B5D-8A1C-E95625EE254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835C45-A5A4-424D-8FA7-A7AE928B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5C46"/>
                </a:solidFill>
              </a:defRPr>
            </a:pPr>
            <a:r>
              <a:rPr sz="975" b="1">
                <a:solidFill>
                  <a:srgbClr val="0F5C46"/>
                </a:solidFill>
              </a:rPr>
              <a:t>01  MOTIVATION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14C1A9-24CC-4A56-9B70-9D5C4AD8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5C46"/>
                </a:solidFill>
              </a:defRPr>
            </a:pPr>
            <a:r>
              <a:rPr sz="975" b="1">
                <a:solidFill>
                  <a:srgbClr val="0F5C46"/>
                </a:solidFill>
              </a:rPr>
              <a:t>02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0C9E95-716E-4CF5-A1E2-778095DC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524CE4-B423-45FF-BC2C-44B29922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19050">
            <a:solidFill>
              <a:srgbClr val="1024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61ED6C-9404-4A0F-9ACB-8512F91A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43A"/>
                </a:solidFill>
              </a:defRPr>
            </a:pPr>
            <a:r>
              <a:rPr sz="3000" b="1">
                <a:solidFill>
                  <a:srgbClr val="10243A"/>
                </a:solidFill>
              </a:rPr>
              <a:t>Why This Problem Matters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54D58B-DF6E-4D87-B6FC-F73DBFC0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44054"/>
                </a:solidFill>
              </a:defRPr>
            </a:pPr>
            <a:r>
              <a:rPr sz="1425" b="0">
                <a:solidFill>
                  <a:srgbClr val="344054"/>
                </a:solidFill>
              </a:rPr>
              <a:t>Accurate cross-modal registration is the prerequisite for reliable remote-sensing analysis.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51F581-5055-4663-AC3D-7B1FAA1A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D36984-1ED6-40E4-8E8F-1493368C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79C797-60F7-4335-91CF-9E6F9B12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62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12E1DB-64F4-422A-AE26-7B12FA33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385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650571-36E9-4179-B2EE-5AE279E1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7623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56AEB1-CB68-4C4F-AAF8-4255EC77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957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9D364C-D4FA-4025-B09B-B1DE7B65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543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C46"/>
                </a:solidFill>
              </a:defRPr>
            </a:pPr>
            <a:r>
              <a:rPr sz="1125" b="1">
                <a:solidFill>
                  <a:srgbClr val="0F5C46"/>
                </a:solidFill>
              </a:rPr>
              <a:t>Domain context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16FE6A-FF22-4937-BFB8-B1636FDB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38600"/>
            <a:ext cx="29273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Earth observation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constellations generate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terabytes of EO, SAR,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infrared, and multispectral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imagery every day for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mapping, agriculture, and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disaster response.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B36C7C-B788-48C1-BCA9-452B49D18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3375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2772AA-00D8-4E57-A69A-90F4FFC8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3375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A4B10D-9C86-41D8-B5C5-50EB53EA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562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2C7F1A-6334-4078-8857-580B2687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733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E357D4-6E6F-4FA7-A8EC-FAFEB077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819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9284CA-147D-44D9-9192-6F764AE7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8004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C697F5-FF08-4026-9F6D-A7234080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543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C46"/>
                </a:solidFill>
              </a:defRPr>
            </a:pPr>
            <a:r>
              <a:rPr sz="1125" b="1">
                <a:solidFill>
                  <a:srgbClr val="0F5C46"/>
                </a:solidFill>
              </a:rPr>
              <a:t>Why registration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A6D011-104C-40CA-874A-494F658C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038600"/>
            <a:ext cx="29273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These downstream tasks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depend on precise spatial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alignment. Mis-registered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inputs create false changes,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noisy overlays, and poor GIS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decisions.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C1CDC3-882A-4737-AA75-76117526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3375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28927B-A9A7-48FD-8203-94CBD59CE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3375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F6B119-CAA8-4861-9B22-F0842B87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562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D527E2-E25D-46DF-A214-D27D0B54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7052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8A68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A08A81-293B-4926-9D27-8BFFE70A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7909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9B28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DF40E2-B89E-47E9-A2C3-89E5EF8F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8766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5F4F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2B07BC-E8F6-4390-895A-08F4FF4E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543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C46"/>
                </a:solidFill>
              </a:defRPr>
            </a:pPr>
            <a:r>
              <a:rPr sz="1125" b="1">
                <a:solidFill>
                  <a:srgbClr val="0F5C46"/>
                </a:solidFill>
              </a:rPr>
              <a:t>Why multimodal is hard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43E9B8-2ABC-4185-A6DA-AD025277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038600"/>
            <a:ext cx="29273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The same road can appear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bright in EO and dark in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SAR. Classical descriptors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built for same-sensor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imagery break under this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inversion.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87C298-EAB3-45A3-9D5F-66AB257A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Slide rebuilt with a clean layout for presentation clarity.</a:t>
            </a:r>
          </a:p>
        </p:txBody>
      </p:sp>
    </p:spTree>
    <p:extLst>
      <p:ext uri="{BB962C8B-B14F-4D97-AF65-F5344CB8AC3E}">
        <p14:creationId xmlns:p14="http://schemas.microsoft.com/office/powerpoint/2010/main" val="12078113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96EA113-DFED-4B5D-8A1C-E95625EE254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623468-C2EA-4143-B92E-D8921519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5C46"/>
                </a:solidFill>
              </a:defRPr>
            </a:pPr>
            <a:r>
              <a:rPr sz="975" b="1">
                <a:solidFill>
                  <a:srgbClr val="0F5C46"/>
                </a:solidFill>
              </a:rPr>
              <a:t>02 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22DCCC-FFB8-4D2C-8187-08030A8D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5C46"/>
                </a:solidFill>
              </a:defRPr>
            </a:pPr>
            <a:r>
              <a:rPr sz="975" b="1">
                <a:solidFill>
                  <a:srgbClr val="0F5C46"/>
                </a:solidFill>
              </a:rPr>
              <a:t>03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1EC33B-E1F9-47A5-962B-E14853CB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B39887-FF4D-4BDC-A120-4C299D62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19050">
            <a:solidFill>
              <a:srgbClr val="1024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4E98DF-958E-46C7-B795-10E1FC57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43A"/>
                </a:solidFill>
              </a:defRPr>
            </a:pPr>
            <a:r>
              <a:rPr sz="3000" b="1">
                <a:solidFill>
                  <a:srgbClr val="10243A"/>
                </a:solidFill>
              </a:rPr>
              <a:t>Technical Challenge and Accuracy Target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BE21FC-648E-4309-9B77-431DE6F4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44054"/>
                </a:solidFill>
              </a:defRPr>
            </a:pPr>
            <a:r>
              <a:rPr sz="1425" b="0">
                <a:solidFill>
                  <a:srgbClr val="344054"/>
                </a:solidFill>
              </a:rPr>
              <a:t>The study compares multiple registration paradigms under one common evaluation pipeline.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48D26E-139C-4A73-A797-B96089C0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712B2A-CD2E-48C3-8755-6F6DD765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15D573-F42F-4981-B6BB-6124D17C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43A"/>
                </a:solidFill>
              </a:defRPr>
            </a:pPr>
            <a:r>
              <a:rPr sz="2550" b="1">
                <a:solidFill>
                  <a:srgbClr val="10243A"/>
                </a:solidFill>
              </a:rPr>
              <a:t>2-3 px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03B596-2708-4332-893C-19B30906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Misalignment can already break GIS overlays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020720-2F85-4A3B-9B7B-C5DD041D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At 0.5 m per pixel, even small shifts are costly.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6939F3-C46D-41A8-BDF8-9469DCD9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5CAC62-42E4-41B8-B6F9-C506A9D6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285D7B-5891-4930-8F4E-7F23D000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43A"/>
                </a:solidFill>
              </a:defRPr>
            </a:pPr>
            <a:r>
              <a:rPr sz="2550" b="1">
                <a:solidFill>
                  <a:srgbClr val="10243A"/>
                </a:solidFill>
              </a:rPr>
              <a:t>&lt;= 1 px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7CA919-CAEB-433A-826D-0261916E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Professional photogrammetry target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016781-8478-413C-AECA-798EC1A6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Sub-pixel error is the practical acceptance line.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0099CF-BDC9-4CA3-B56F-3AC19668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07BCA6-F0D1-4FD8-B8C5-A64108E77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F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BB82B9-4555-4F29-8DA2-ACE1C5E4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43A"/>
                </a:solidFill>
              </a:defRPr>
            </a:pPr>
            <a:r>
              <a:rPr sz="2550" b="1">
                <a:solidFill>
                  <a:srgbClr val="10243A"/>
                </a:solidFill>
              </a:rPr>
              <a:t>6 methods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081250-90CD-47FD-9D82-E7BBCF04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Unified comparison setting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246BA7-A4BC-4848-9831-D0E3E511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Same preprocessing, matching logic, and RANSAC setup.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36FAED-8159-4BDE-B266-74DBAE50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Slide rebuilt with a clean layout for presentation clarity.</a:t>
            </a:r>
          </a:p>
        </p:txBody>
      </p:sp>
    </p:spTree>
    <p:extLst>
      <p:ext uri="{BB962C8B-B14F-4D97-AF65-F5344CB8AC3E}">
        <p14:creationId xmlns:p14="http://schemas.microsoft.com/office/powerpoint/2010/main" val="4239570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96EA113-DFED-4B5D-8A1C-E95625EE254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D49658-4152-458A-8780-7E1FD5E7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5C46"/>
                </a:solidFill>
              </a:defRPr>
            </a:pPr>
            <a:r>
              <a:rPr sz="975" b="1">
                <a:solidFill>
                  <a:srgbClr val="0F5C46"/>
                </a:solidFill>
              </a:rPr>
              <a:t>03  LITERATURE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EA1877-DEA3-43DD-B81B-30FF5BAC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5C46"/>
                </a:solidFill>
              </a:defRPr>
            </a:pPr>
            <a:r>
              <a:rPr sz="975" b="1">
                <a:solidFill>
                  <a:srgbClr val="0F5C46"/>
                </a:solidFill>
              </a:rPr>
              <a:t>04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E8A601-F975-4C6A-A7E6-C5DAD2E6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AE7E5D-C169-4010-8BB9-4DF24C789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19050">
            <a:solidFill>
              <a:srgbClr val="1024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442148-0E9F-4326-B7D0-9B94F70A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43A"/>
                </a:solidFill>
              </a:defRPr>
            </a:pPr>
            <a:r>
              <a:rPr sz="3000" b="1">
                <a:solidFill>
                  <a:srgbClr val="10243A"/>
                </a:solidFill>
              </a:rPr>
              <a:t>What Earlier Work Gives 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1A5A29-898F-4E07-913D-5C59B750A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44054"/>
                </a:solidFill>
              </a:defRPr>
            </a:pPr>
            <a:r>
              <a:rPr sz="1425" b="0">
                <a:solidFill>
                  <a:srgbClr val="344054"/>
                </a:solidFill>
              </a:rPr>
              <a:t>The project spans fast classical baselines, multimodal descriptors, and learned local features.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ED3043-AC66-481A-8D21-974CEAA0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C753EE-C4F4-4566-9D40-28830D9D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11C2B7-A032-4629-9C29-B226050E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62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6C75B3-AFDD-4C7A-AD58-70E654DE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385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92F371-EB64-452D-8309-6BE56F0A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7623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DA86C0-1AFA-40D8-A041-B787E4B3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957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8DDCD1-AB42-4EBA-AD91-85A72A281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543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C46"/>
                </a:solidFill>
              </a:defRPr>
            </a:pPr>
            <a:r>
              <a:rPr sz="1125" b="1">
                <a:solidFill>
                  <a:srgbClr val="0F5C46"/>
                </a:solidFill>
              </a:rPr>
              <a:t>Classical baselines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39CF38-5194-42F5-9CC5-5E61C099C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38600"/>
            <a:ext cx="29273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SIFT, ORB, and BRISK provide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scale or speed advantages,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but their handcrafted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comparisons are vulnerable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when modality changes invert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intensities.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143A3A-A08D-4A86-9897-E0A3D76C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3375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266BAB-C058-4D72-A71C-D9E98A02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3375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2A8641-FA85-4E34-8111-F7C37DAD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562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3E266A-46AA-4E27-B433-C5F24A512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733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BDF930-7A90-4861-9C6B-B5569F40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819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BD220C-3122-49E7-AF50-8ADE3238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8004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83EB1B-AA1F-4EA7-A866-FCE66C0D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543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C46"/>
                </a:solidFill>
              </a:defRPr>
            </a:pPr>
            <a:r>
              <a:rPr sz="1125" b="1">
                <a:solidFill>
                  <a:srgbClr val="0F5C46"/>
                </a:solidFill>
              </a:rPr>
              <a:t>Multimodal classical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9A28A7-174D-4E8E-9F52-5D4B6B01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038600"/>
            <a:ext cx="29273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SASF improves robustness by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capturing structural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similarity through NCC-based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self-convolution instead of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relying only on raw pixel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intensity patterns.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83DECC-A350-4D1C-BA3E-D7E2DE02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3375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C8370E-ED96-4C58-85FF-64D699FE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3375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1DC76E-3443-4371-8A4A-2F2D018D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562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B69936-040B-4585-A0F2-AC8773CD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7052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8A68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BD89EA-094D-4EA9-8921-802FED1E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7909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9B28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538488-0828-4AB0-BC30-13F5B423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8766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5F4F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98F01D-4EA5-4BF0-A5CF-60202E76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543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C46"/>
                </a:solidFill>
              </a:defRPr>
            </a:pPr>
            <a:r>
              <a:rPr sz="1125" b="1">
                <a:solidFill>
                  <a:srgbClr val="0F5C46"/>
                </a:solidFill>
              </a:rPr>
              <a:t>Learned descriptors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74723A-0F36-4557-B69B-61EF3515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038600"/>
            <a:ext cx="29273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SuperPoint and DISK show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that matchability can be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learned directly, making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deep methods the strongest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candidates for cross-modal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alignment.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A367B6-4AC0-4C8A-BDA8-10F15A2EB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Slide rebuilt with a clean layout for presentation clarity.</a:t>
            </a:r>
          </a:p>
        </p:txBody>
      </p:sp>
    </p:spTree>
    <p:extLst>
      <p:ext uri="{BB962C8B-B14F-4D97-AF65-F5344CB8AC3E}">
        <p14:creationId xmlns:p14="http://schemas.microsoft.com/office/powerpoint/2010/main" val="928134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96EA113-DFED-4B5D-8A1C-E95625EE254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BE1184-3491-45D4-9CA2-7CFC5DCD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5C46"/>
                </a:solidFill>
              </a:defRPr>
            </a:pPr>
            <a:r>
              <a:rPr sz="975" b="1">
                <a:solidFill>
                  <a:srgbClr val="0F5C46"/>
                </a:solidFill>
              </a:rPr>
              <a:t>04  METHODOLOGY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663E29-8FA5-41A6-9D87-750022E89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5C46"/>
                </a:solidFill>
              </a:defRPr>
            </a:pPr>
            <a:r>
              <a:rPr sz="975" b="1">
                <a:solidFill>
                  <a:srgbClr val="0F5C46"/>
                </a:solidFill>
              </a:rPr>
              <a:t>05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BF6FAF-C7F7-4EF6-812E-6B54E2BF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1B2E65-1819-44FA-88CC-B0EE0A1A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19050">
            <a:solidFill>
              <a:srgbClr val="1024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4B2078-2E0B-44B9-A9D3-2D31FBC2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43A"/>
                </a:solidFill>
              </a:defRPr>
            </a:pPr>
            <a:r>
              <a:rPr sz="3000" b="1">
                <a:solidFill>
                  <a:srgbClr val="10243A"/>
                </a:solidFill>
              </a:rPr>
              <a:t>Registration Pipeline and DISK Architecture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8A3D62-D1AA-4349-91B9-DCA62588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44054"/>
                </a:solidFill>
              </a:defRPr>
            </a:pPr>
            <a:r>
              <a:rPr sz="1425" b="0">
                <a:solidFill>
                  <a:srgbClr val="344054"/>
                </a:solidFill>
              </a:rPr>
              <a:t>The PDF figures are preserved here because they capture both the generic pipeline and the deep network design.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BEC71F-9491-407A-922C-91D491D0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459a7d8e0d44b6"/>
          <a:stretch xmlns:a="http://schemas.openxmlformats.org/drawingml/2006/main"/>
        </p:blipFill>
        <p:spPr>
          <a:xfrm xmlns:a="http://schemas.openxmlformats.org/drawingml/2006/main">
            <a:off x="4165600" y="1524000"/>
            <a:ext cx="3860800" cy="21717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3D5B89-B4BB-4256-8BA1-DCEE1E29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066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Source report visuals: registration pipeline and DISK architecture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406214-53E7-4DF8-AED2-62C157B2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C2342A-FE4E-435A-A0B8-EC01240E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E264A9-4BE6-4A2D-9B4F-39D11834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24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E06EF2-F52F-4ABE-B4AD-F385D44BE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005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589445-9693-4B33-942B-7C2E6EB2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5243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969D37-7839-4D5B-B350-62E47AA0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577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28FE55-F7BC-443E-9469-2B2C21E6B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305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C46"/>
                </a:solidFill>
              </a:defRPr>
            </a:pPr>
            <a:r>
              <a:rPr sz="1125" b="1">
                <a:solidFill>
                  <a:srgbClr val="0F5C46"/>
                </a:solidFill>
              </a:rPr>
              <a:t>Pipeline stages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7847E1-9EC3-4C8A-BAB6-E4551A1B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00600"/>
            <a:ext cx="29273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Preprocess and downscale,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detect keypoints, extract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descriptors, match features,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reject outliers with Lowe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plus RANSAC, then estimate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homography and measure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error.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21E26D-4059-4DD3-ABC0-ECF0870B6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9575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E5BA51-1112-4768-AC74-76CB27A7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9575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834D2B-2CC9-475B-AF1D-46659AC6C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324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03206F-3A1C-4398-A557-896788AD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495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7C14C7-AFC4-4846-AACB-1855DCDB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581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6A684D-FB3D-46B7-8DC0-9371B0468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5624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C4AB9F-7D9E-41E1-89B8-207A76DB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305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C46"/>
                </a:solidFill>
              </a:defRPr>
            </a:pPr>
            <a:r>
              <a:rPr sz="1125" b="1">
                <a:solidFill>
                  <a:srgbClr val="0F5C46"/>
                </a:solidFill>
              </a:rPr>
              <a:t>Deep model choice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A662B7-F180-4980-BDE3-7AD5C72B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800600"/>
            <a:ext cx="29273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DISK uses a U-Net style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encoder-decoder with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detector and descriptor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heads trained to maximize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correct correspondences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instead of a proxy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objective.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E0FE89-15FB-479B-83D4-8D66236A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9575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55C28-9137-4761-9331-C85970CD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9575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216D2B-D588-4CB8-A7B3-FB870BE3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324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9E8BB4-73C2-4AA3-9A9E-93954A7C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4672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8A68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4DF515-77D6-4D7E-A826-12C1AFB3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5529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9B28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5765CB-249E-4D72-9B21-09B17996F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6386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5F4F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733E77-E89E-4C9C-885C-DEE1B4EB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305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C46"/>
                </a:solidFill>
              </a:defRPr>
            </a:pPr>
            <a:r>
              <a:rPr sz="1125" b="1">
                <a:solidFill>
                  <a:srgbClr val="0F5C46"/>
                </a:solidFill>
              </a:rPr>
              <a:t>Fixed settings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BBFA3B-116B-4D65-81FA-B6887076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800600"/>
            <a:ext cx="29273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Maximum image size is 2000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px, ratio test is 0.75 for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classical methods and 0.9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for DISK, and the RANSAC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reprojection threshold is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5.0 px.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490BAA-9DD4-4C2C-AE48-69C54010B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Slide rebuilt with a clean layout for presentation clarity.</a:t>
            </a:r>
          </a:p>
        </p:txBody>
      </p:sp>
    </p:spTree>
    <p:extLst>
      <p:ext uri="{BB962C8B-B14F-4D97-AF65-F5344CB8AC3E}">
        <p14:creationId xmlns:p14="http://schemas.microsoft.com/office/powerpoint/2010/main" val="18733462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96EA113-DFED-4B5D-8A1C-E95625EE254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6AAF7C-9E63-4328-96DC-E1922643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5C46"/>
                </a:solidFill>
              </a:defRPr>
            </a:pPr>
            <a:r>
              <a:rPr sz="975" b="1">
                <a:solidFill>
                  <a:srgbClr val="0F5C46"/>
                </a:solidFill>
              </a:rPr>
              <a:t>05  IMPLEMENTATION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8619AB-C5FA-4241-B2D0-E8DD476C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5C46"/>
                </a:solidFill>
              </a:defRPr>
            </a:pPr>
            <a:r>
              <a:rPr sz="975" b="1">
                <a:solidFill>
                  <a:srgbClr val="0F5C46"/>
                </a:solidFill>
              </a:rPr>
              <a:t>06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5A9B75-5C0F-461E-A3F4-D7E4F263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142435-5E6B-4E09-8720-7A5A114D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19050">
            <a:solidFill>
              <a:srgbClr val="1024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CA1A32-2C7E-4E2F-8CD3-3C7677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43A"/>
                </a:solidFill>
              </a:defRPr>
            </a:pPr>
            <a:r>
              <a:rPr sz="3000" b="1">
                <a:solidFill>
                  <a:srgbClr val="10243A"/>
                </a:solidFill>
              </a:rPr>
              <a:t>Technical Stack and Main Contributions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9E5A7E-42BE-451E-BE3E-DD4663E4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44054"/>
                </a:solidFill>
              </a:defRPr>
            </a:pPr>
            <a:r>
              <a:rPr sz="1425" b="0">
                <a:solidFill>
                  <a:srgbClr val="344054"/>
                </a:solidFill>
              </a:rPr>
              <a:t>The implementation combines OpenCV baselines with a custom SASF pipeline and PyTorch-based DISK inference.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8A983F-56B3-461E-AABE-5D41298E5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FB94CC-2C07-4AF0-98D1-714CF1A3C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ED328E-3956-42D8-B528-707B4B4C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43A"/>
                </a:solidFill>
              </a:defRPr>
            </a:pPr>
            <a:r>
              <a:rPr sz="2550" b="1">
                <a:solidFill>
                  <a:srgbClr val="10243A"/>
                </a:solidFill>
              </a:rPr>
              <a:t>Python 3.9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73F615-C4DA-4BC6-B586-7CAA7AAB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Core implementation language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DD1338-FD24-4DA0-B270-47361952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OpenCV, NumPy, Matplotlib, PyTorch, and Kornia.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70B03D-83B8-458D-B6DC-5867708D0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D50911-C2F7-429B-8712-98A95EA7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004BAD-0EED-4620-80B2-1E264C08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43A"/>
                </a:solidFill>
              </a:defRPr>
            </a:pPr>
            <a:r>
              <a:rPr sz="2550" b="1">
                <a:solidFill>
                  <a:srgbClr val="10243A"/>
                </a:solidFill>
              </a:rPr>
              <a:t>4 x 16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213C36-8566-49E6-87CE-B6AC6458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SASF ring-angle descriptor structure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E9CB9C-6AB7-4967-9BF8-69C2BC8BB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NCC over 4 rings and 16 angles drives the custom feature.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7BC1E3-F79B-4960-97B7-DEA4E2C38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F8F9A2-D998-4320-886A-2D56D3EF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F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E5E08F-99C2-43D3-830A-16576FAB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43A"/>
                </a:solidFill>
              </a:defRPr>
            </a:pPr>
            <a:r>
              <a:rPr sz="2550" b="1">
                <a:solidFill>
                  <a:srgbClr val="10243A"/>
                </a:solidFill>
              </a:rPr>
              <a:t>Top 80%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4C7492-3778-4279-90E0-96BF245B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Entropy-based saliency filtering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52BACF-9ED6-421A-BBE9-67DC955A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Keeps the most informative keypoints for SASF.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91F087-71D8-4F1D-B7F4-BE64FD65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Slide rebuilt with a clean layout for presentation clarity.</a:t>
            </a:r>
          </a:p>
        </p:txBody>
      </p:sp>
    </p:spTree>
    <p:extLst>
      <p:ext uri="{BB962C8B-B14F-4D97-AF65-F5344CB8AC3E}">
        <p14:creationId xmlns:p14="http://schemas.microsoft.com/office/powerpoint/2010/main" val="1242626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96EA113-DFED-4B5D-8A1C-E95625EE254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7A1539-266A-4311-A8DF-5C52E0F7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5C46"/>
                </a:solidFill>
              </a:defRPr>
            </a:pPr>
            <a:r>
              <a:rPr sz="975" b="1">
                <a:solidFill>
                  <a:srgbClr val="0F5C46"/>
                </a:solidFill>
              </a:rPr>
              <a:t>06 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BC7D1D-DCBB-48D5-A586-6FA54BB0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5C46"/>
                </a:solidFill>
              </a:defRPr>
            </a:pPr>
            <a:r>
              <a:rPr sz="975" b="1">
                <a:solidFill>
                  <a:srgbClr val="0F5C46"/>
                </a:solidFill>
              </a:rPr>
              <a:t>07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4D7D05-D64F-4AE5-B82E-606260C9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E54FAD-2854-4C77-A456-67776CC23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19050">
            <a:solidFill>
              <a:srgbClr val="1024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5295B5-C280-401C-8A3B-3B73A7AE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43A"/>
                </a:solidFill>
              </a:defRPr>
            </a:pPr>
            <a:r>
              <a:rPr sz="3000" b="1">
                <a:solidFill>
                  <a:srgbClr val="10243A"/>
                </a:solidFill>
              </a:rPr>
              <a:t>Dataset and Evaluation Protocol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E47F27-CA6B-423E-988B-3799C147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44054"/>
                </a:solidFill>
              </a:defRPr>
            </a:pPr>
            <a:r>
              <a:rPr sz="1425" b="0">
                <a:solidFill>
                  <a:srgbClr val="344054"/>
                </a:solidFill>
              </a:rPr>
              <a:t>The same-scene EO and NIR or SAR pair makes the visual mismatch obvious while keeping geometry comparable.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485AC1-FEC5-4CD6-BF60-2CCFB3E3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95400"/>
            <a:ext cx="41529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8a557a5cf0451c"/>
          <a:stretch xmlns:a="http://schemas.openxmlformats.org/drawingml/2006/main"/>
        </p:blipFill>
        <p:spPr>
          <a:xfrm xmlns:a="http://schemas.openxmlformats.org/drawingml/2006/main">
            <a:off x="7643283" y="1390650"/>
            <a:ext cx="3725333" cy="20955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39F905-76A2-4E9A-9214-7A933745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638550"/>
            <a:ext cx="384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Source report visual: EO and NIR or SAR example pair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A46559-EF56-43FE-B040-F391C285B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9DB860-0A60-4529-AAF3-C9854AAB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55CB19-FE82-403B-AE4D-BC66BD14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555DE2-886A-4800-B708-871A9298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148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B973A5-AC3C-4944-8097-6118FD5A2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2386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447AD8-06AF-4A25-B2F1-4165244C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719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36299D-91E3-46D0-98B2-EB6BC2DE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195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C46"/>
                </a:solidFill>
              </a:defRPr>
            </a:pPr>
            <a:r>
              <a:rPr sz="1125" b="1">
                <a:solidFill>
                  <a:srgbClr val="0F5C46"/>
                </a:solidFill>
              </a:rPr>
              <a:t>Image pair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76B7B4-A6FD-48CB-9600-1C336CBA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14850"/>
            <a:ext cx="29273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One EO versus NIR or SAR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pair from the same scene is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used to test how each method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handles strong appearance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change with shared spatial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content.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842A71-233A-42E5-B3D7-BDDB1798A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8100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3A3602-30BC-48D4-B05F-9C67BB22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8100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AC90C4-D611-4FE5-99DC-A75BD10E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38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0DE902-83FE-4C21-A428-AE07BEE6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210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9CBE1D-873E-4054-89AB-61C4F2C9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295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98F8B5-3DE5-4492-8F6D-6EDB758D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2767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A8868F-E9CB-4984-BD4B-15767AAAF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0195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C46"/>
                </a:solidFill>
              </a:defRPr>
            </a:pPr>
            <a:r>
              <a:rPr sz="1125" b="1">
                <a:solidFill>
                  <a:srgbClr val="0F5C46"/>
                </a:solidFill>
              </a:rPr>
              <a:t>Compared methods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F6ECA2-31A1-4ADF-A91E-514D2C4A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514850"/>
            <a:ext cx="29273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SIFT, ORB, BRISK, SASF, CNN,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and NN-DISK are run inside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one standardized pipeline so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the comparison stays fair.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26371E-5C2E-4185-AC7F-85421F67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100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51732D-FF3A-4254-B982-EB8844C3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100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1CAE13-FECC-4799-9BAA-D5D001B5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038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CA2EEC-1F63-4D5A-BF87-17EBC5CF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1814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8A68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32BF77-E973-4C65-86A2-CC378881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2672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9B28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28FBED-2CEC-4A27-B98C-53C1559D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3529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5F4F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ED3616-3A57-427B-811D-D2357D568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0195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C46"/>
                </a:solidFill>
              </a:defRPr>
            </a:pPr>
            <a:r>
              <a:rPr sz="1125" b="1">
                <a:solidFill>
                  <a:srgbClr val="0F5C46"/>
                </a:solidFill>
              </a:rPr>
              <a:t>Metrics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61E9739-5346-4867-9189-1728AB93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514850"/>
            <a:ext cx="29273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Keypoint count tracks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detections, CMR measures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inlier quality after RANSAC,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and RMSE captures the final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geometric accuracy in pixels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and meters.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38EBE3-8F77-47C2-8FF8-A01C9FC6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Slide rebuilt with a clean layout for presentation clarity.</a:t>
            </a:r>
          </a:p>
        </p:txBody>
      </p:sp>
    </p:spTree>
    <p:extLst>
      <p:ext uri="{BB962C8B-B14F-4D97-AF65-F5344CB8AC3E}">
        <p14:creationId xmlns:p14="http://schemas.microsoft.com/office/powerpoint/2010/main" val="1652878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96EA113-DFED-4B5D-8A1C-E95625EE254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47A429-0FFC-4F26-BA3B-F6912249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5C46"/>
                </a:solidFill>
              </a:defRPr>
            </a:pPr>
            <a:r>
              <a:rPr sz="975" b="1">
                <a:solidFill>
                  <a:srgbClr val="0F5C46"/>
                </a:solidFill>
              </a:rPr>
              <a:t>07 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975556-9BE4-4558-BA2A-02DE5A41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5C46"/>
                </a:solidFill>
              </a:defRPr>
            </a:pPr>
            <a:r>
              <a:rPr sz="975" b="1">
                <a:solidFill>
                  <a:srgbClr val="0F5C46"/>
                </a:solidFill>
              </a:rPr>
              <a:t>08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33627E-29B1-49D9-81CA-35229F51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49701C-0198-49BB-9B35-845C5ADA9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19050">
            <a:solidFill>
              <a:srgbClr val="1024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E56B23-C66D-44C1-B3B3-3E0C9215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43A"/>
                </a:solidFill>
              </a:defRPr>
            </a:pPr>
            <a:r>
              <a:rPr sz="3000" b="1">
                <a:solidFill>
                  <a:srgbClr val="10243A"/>
                </a:solidFill>
              </a:rPr>
              <a:t>Quantitative Results Across Algorithms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F95220-2389-427E-A699-D542E9432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44054"/>
                </a:solidFill>
              </a:defRPr>
            </a:pPr>
            <a:r>
              <a:rPr sz="1425" b="0">
                <a:solidFill>
                  <a:srgbClr val="344054"/>
                </a:solidFill>
              </a:rPr>
              <a:t>This slide preserves the original charts because they are the strongest visual evidence in the presentation.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F331F2-5E88-499F-922B-55438FD5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cb0093803d46ad"/>
          <a:stretch xmlns:a="http://schemas.openxmlformats.org/drawingml/2006/main"/>
        </p:blipFill>
        <p:spPr>
          <a:xfrm xmlns:a="http://schemas.openxmlformats.org/drawingml/2006/main">
            <a:off x="3911600" y="1524000"/>
            <a:ext cx="4368800" cy="24574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0ADD27-A60D-4251-9301-CD4F242BC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33850"/>
            <a:ext cx="1066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Source report visuals: CMR and RMSE comparison charts with result table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40D733-EADF-4080-B261-926E7E91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FB8D5D-A117-44D9-AD17-F2375AD2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1EDEA7-2E8C-4BCB-994B-7D4F6632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0535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43A"/>
                </a:solidFill>
              </a:defRPr>
            </a:pPr>
            <a:r>
              <a:rPr sz="2550" b="1">
                <a:solidFill>
                  <a:srgbClr val="10243A"/>
                </a:solidFill>
              </a:rPr>
              <a:t>98.19%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815590-A8AC-42C9-8B33-09582A47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5780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Correct matching rate for NN-DISK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A65237-B7F0-47A4-87D1-63E2BD79E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3405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Highest by a very large margin.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8BB2CB-DB80-4CAD-A5C6-7FC6EE5A3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7675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ECBDCB-26D4-4AEF-B29E-0FF921B1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7675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8A51F6-D3C6-411E-91F1-B284A25B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70535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43A"/>
                </a:solidFill>
              </a:defRPr>
            </a:pPr>
            <a:r>
              <a:rPr sz="2550" b="1">
                <a:solidFill>
                  <a:srgbClr val="10243A"/>
                </a:solidFill>
              </a:rPr>
              <a:t>0.87 px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E39600-3A5C-4FFA-86EA-F8ED71093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25780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RMSE for NN-DISK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16762A-14C4-4CA7-ADB9-41A18097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73405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Only method below the 1 px threshold.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1DD94B-9E3C-42DC-835E-882A25B5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7675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8AA4CA-C4EB-4B6B-8D93-A16F5DDB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7675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F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AA3479-A24E-4981-8C70-020DDEA1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70535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43A"/>
                </a:solidFill>
              </a:defRPr>
            </a:pPr>
            <a:r>
              <a:rPr sz="2550" b="1">
                <a:solidFill>
                  <a:srgbClr val="10243A"/>
                </a:solidFill>
              </a:rPr>
              <a:t>0.44 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ADCB3A-19FB-4D93-9D10-5895903B4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25780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Ground error at 0.5 m per pixel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4AF6CF-19EC-4332-8E91-01BA3535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73405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Best practical outcome for mapping tasks.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98A534-BFA2-41CF-83FD-A2849EE6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Slide rebuilt with a clean layout for presentation clarity.</a:t>
            </a:r>
          </a:p>
        </p:txBody>
      </p:sp>
    </p:spTree>
    <p:extLst>
      <p:ext uri="{BB962C8B-B14F-4D97-AF65-F5344CB8AC3E}">
        <p14:creationId xmlns:p14="http://schemas.microsoft.com/office/powerpoint/2010/main" val="6479596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96EA113-DFED-4B5D-8A1C-E95625EE254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FC2DD5-5687-4544-9369-3988EC07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5C46"/>
                </a:solidFill>
              </a:defRPr>
            </a:pPr>
            <a:r>
              <a:rPr sz="975" b="1">
                <a:solidFill>
                  <a:srgbClr val="0F5C46"/>
                </a:solidFill>
              </a:rPr>
              <a:t>08 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4CBDC1-8AE6-4EF3-BA4A-116D74D0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5C46"/>
                </a:solidFill>
              </a:defRPr>
            </a:pPr>
            <a:r>
              <a:rPr sz="975" b="1">
                <a:solidFill>
                  <a:srgbClr val="0F5C46"/>
                </a:solidFill>
              </a:rPr>
              <a:t>09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BA976C-76E2-4BD4-8A84-B6EBF0E6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A2340F-E1B0-49A7-84A0-A4CFB0375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19050">
            <a:solidFill>
              <a:srgbClr val="1024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EB5A95-C1E0-4F6A-88D8-EF7026274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43A"/>
                </a:solidFill>
              </a:defRPr>
            </a:pPr>
            <a:r>
              <a:rPr sz="3000" b="1">
                <a:solidFill>
                  <a:srgbClr val="10243A"/>
                </a:solidFill>
              </a:rPr>
              <a:t>Why DISK Performs So Much Better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0B41B6-6EBA-4915-B4E6-4E07B74F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44054"/>
                </a:solidFill>
              </a:defRPr>
            </a:pPr>
            <a:r>
              <a:rPr sz="1425" b="0">
                <a:solidFill>
                  <a:srgbClr val="344054"/>
                </a:solidFill>
              </a:rPr>
              <a:t>The chart and bullets together explain the gap between handcrafted descriptors and learned matchability.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CDEAA2-7A3D-40B9-AD85-E484FB8A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4762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c1374deb124be4"/>
          <a:stretch xmlns:a="http://schemas.openxmlformats.org/drawingml/2006/main"/>
        </p:blipFill>
        <p:spPr>
          <a:xfrm xmlns:a="http://schemas.openxmlformats.org/drawingml/2006/main">
            <a:off x="704850" y="1571625"/>
            <a:ext cx="4572000" cy="2571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DD03AF-AA43-4764-936A-C87A6A0A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445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Source report visual: keypoints detected and correct matches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E012F5-9166-43BB-B805-C7C2F9C2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05536B-56E8-4447-82EE-CFF71EFF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E0DA98-55D0-4FB3-AB81-F0777E87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24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F31DD2-AA93-4AF7-A5CB-2B3A676C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005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4E1D23-9B13-4C64-B53F-2B392FC6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5243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04FF26-95BE-4A41-A6E8-6EED230E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577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98AFE4-EA6D-4B5F-8D9C-8F7AAD39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305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C46"/>
                </a:solidFill>
              </a:defRPr>
            </a:pPr>
            <a:r>
              <a:rPr sz="1125" b="1">
                <a:solidFill>
                  <a:srgbClr val="0F5C46"/>
                </a:solidFill>
              </a:rPr>
              <a:t>Why ORB and BRISK fail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117944-19C5-4F9D-B700-561091C1B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00600"/>
            <a:ext cx="29273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Binary intensity comparisons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flip sign under cross-modal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inversion, so they produce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many unstable matches even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when the physical scene is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the same.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9935CB-5011-401D-98EE-E2671CBD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9575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A3EFC7-1DDB-47B7-A674-000BABF9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9575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DF71A9-6DDF-47E1-BBC3-F54562C3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324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16809A-B956-4B93-AFF5-66BE4747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495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E43CF8-2991-48E2-A15E-4C8E85F3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581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761E1C-EF7F-4FF9-9EA1-771159DC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5624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0C8D4F-95C5-4818-8D3D-98F2DBC6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305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C46"/>
                </a:solidFill>
              </a:defRPr>
            </a:pPr>
            <a:r>
              <a:rPr sz="1125" b="1">
                <a:solidFill>
                  <a:srgbClr val="0F5C46"/>
                </a:solidFill>
              </a:rPr>
              <a:t>Why SASF improves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4F13C3-54A7-4A1F-BC95-45F78A32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800600"/>
            <a:ext cx="29273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SASF uses structural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similarity rather than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direct radiometric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agreement, so it becomes the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strongest classical option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in the experiment.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9EC92D-34E0-4A4E-B3B7-D64BAB26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9575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D4E91B-651E-49B0-9769-B0FEAB79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9575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4576CD-1EFC-49F7-872A-E4559AB6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324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A2165B-03D1-49D5-91D8-2C8B39DF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4672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8A68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832DB5-A406-4074-BFA4-CBA42BE89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5529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9B28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D9D474-2FD0-4764-9B51-861184CC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6386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5F4F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95FFE8-E584-4FC0-A521-6444E7EE8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305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C46"/>
                </a:solidFill>
              </a:defRPr>
            </a:pPr>
            <a:r>
              <a:rPr sz="1125" b="1">
                <a:solidFill>
                  <a:srgbClr val="0F5C46"/>
                </a:solidFill>
              </a:rPr>
              <a:t>Why DISK wins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E778C2-FD88-4081-BFAB-763522B3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800600"/>
            <a:ext cx="29273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DISK learns detector and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descriptor behavior jointly,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uses broader context through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the network, and works with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cycle-consistent matching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before RANSAC.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1965E5-3AF4-4824-BEAA-7ABA1458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Slide rebuilt with a clean layout for presentation clarity.</a:t>
            </a:r>
          </a:p>
        </p:txBody>
      </p:sp>
    </p:spTree>
    <p:extLst>
      <p:ext uri="{BB962C8B-B14F-4D97-AF65-F5344CB8AC3E}">
        <p14:creationId xmlns:p14="http://schemas.microsoft.com/office/powerpoint/2010/main" val="4113534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96EA113-DFED-4B5D-8A1C-E95625EE254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099F88-3C6C-42A6-8144-4D9665230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5C46"/>
                </a:solidFill>
              </a:defRPr>
            </a:pPr>
            <a:r>
              <a:rPr sz="975" b="1">
                <a:solidFill>
                  <a:srgbClr val="0F5C46"/>
                </a:solidFill>
              </a:rPr>
              <a:t>09  LIMITATIONS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A4DD93-F73F-429E-A76F-48E60929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5C46"/>
                </a:solidFill>
              </a:defRPr>
            </a:pPr>
            <a:r>
              <a:rPr sz="975" b="1">
                <a:solidFill>
                  <a:srgbClr val="0F5C46"/>
                </a:solidFill>
              </a:rPr>
              <a:t>10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4B9BA4-A0BF-4C52-9C30-97FE18A1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8D6D6C-AF6D-4C63-8532-0C18B340A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19050">
            <a:solidFill>
              <a:srgbClr val="1024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0857DB-D5C4-4AB5-8052-4E1FF833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43A"/>
                </a:solidFill>
              </a:defRPr>
            </a:pPr>
            <a:r>
              <a:rPr sz="3000" b="1">
                <a:solidFill>
                  <a:srgbClr val="10243A"/>
                </a:solidFill>
              </a:rPr>
              <a:t>Current Constraints of the Study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A1E8D9-0ED8-4BDA-A5D7-1EDF4994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44054"/>
                </a:solidFill>
              </a:defRPr>
            </a:pPr>
            <a:r>
              <a:rPr sz="1425" b="0">
                <a:solidFill>
                  <a:srgbClr val="344054"/>
                </a:solidFill>
              </a:rPr>
              <a:t>The result is strong, but the evaluation still has scope and deployment limitations that should be stated openly.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0CFFB7-3D24-4866-B608-72E57DAC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2C7A7E-C764-43FA-AC87-1598418A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9C8A9A-FE38-4214-945B-0854A9518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62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D316A9-5BA7-4531-A47C-C2759918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385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920E1B-FB48-4F82-8D03-17E0B9F4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7623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E6D4F8-47D2-4FFA-8DBA-20A9106C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957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766C9E-1EEA-47B8-8D24-33B89001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543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C46"/>
                </a:solidFill>
              </a:defRPr>
            </a:pPr>
            <a:r>
              <a:rPr sz="1125" b="1">
                <a:solidFill>
                  <a:srgbClr val="0F5C46"/>
                </a:solidFill>
              </a:rPr>
              <a:t>Limited data breadth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CBD336-9865-4FE8-8969-E6DEFD9E6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38600"/>
            <a:ext cx="29273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Only one EO versus NIR or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SAR pair was evaluated, so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generalization to new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regions, seasons, and sensor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pairs still needs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validation.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2E3618-97B5-41CF-B5E2-8E817349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3375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4858E6-D9D3-4639-AE2F-B9ED5812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3375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159AF1-8019-4BFB-ADE1-E59390BC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562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A4D3E5-A1B3-46EF-BACD-0440E9C2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733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9FE533-99EC-401F-A904-0EE38B1B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819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041958-03AF-463D-B209-C28F0A5F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8004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45C799-8DE5-44F7-A5E3-29852FF2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543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C46"/>
                </a:solidFill>
              </a:defRPr>
            </a:pPr>
            <a:r>
              <a:rPr sz="1125" b="1">
                <a:solidFill>
                  <a:srgbClr val="0F5C46"/>
                </a:solidFill>
              </a:rPr>
              <a:t>Runtime cost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B51576-E1D4-470E-8634-20699684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038600"/>
            <a:ext cx="29273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NN-DISK takes about 60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seconds on CPU, while OpenCV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baselines finish in under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0.2 seconds and SASF takes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roughly 6 seconds.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4423E9-9493-48ED-BFC1-87D075A7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3375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E793AF-BD3D-49C9-9590-4EDB5857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3375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85C3BE-7B39-42E4-9B83-968A6E80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562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E7253C-0419-44D1-B41A-8B99E817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7052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8A68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BA5E7D-978F-47C1-BA0D-D6BAC8FF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7909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9B28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0C4A3F-DBC8-4160-9BCF-D3D7C076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8766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5F4F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E46F0F-8AB7-4985-8EA6-567A3A93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543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C46"/>
                </a:solidFill>
              </a:defRPr>
            </a:pPr>
            <a:r>
              <a:rPr sz="1125" b="1">
                <a:solidFill>
                  <a:srgbClr val="0F5C46"/>
                </a:solidFill>
              </a:rPr>
              <a:t>Model assumption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E0B74B-2CDC-43F5-BB59-C8CF6A80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038600"/>
            <a:ext cx="29273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Homography assumes a mostly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planar scene, and DISK was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not fine-tuned specifically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on satellite EO-SAR data.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6900E3-EA35-4476-A354-AEECBFFD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Slide rebuilt with a clean layout for presentation clarity.</a:t>
            </a:r>
          </a:p>
        </p:txBody>
      </p:sp>
    </p:spTree>
    <p:extLst>
      <p:ext uri="{BB962C8B-B14F-4D97-AF65-F5344CB8AC3E}">
        <p14:creationId xmlns:p14="http://schemas.microsoft.com/office/powerpoint/2010/main" val="3353288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96EA113-DFED-4B5D-8A1C-E95625EE254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E80610-8717-4D63-B4C8-8A1A479A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5C46"/>
                </a:solidFill>
              </a:defRPr>
            </a:pPr>
            <a:r>
              <a:rPr sz="975" b="1">
                <a:solidFill>
                  <a:srgbClr val="0F5C46"/>
                </a:solidFill>
              </a:rPr>
              <a:t>10  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39D1CA-0AE1-498F-9D30-20368105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5C46"/>
                </a:solidFill>
              </a:defRPr>
            </a:pPr>
            <a:r>
              <a:rPr sz="975" b="1">
                <a:solidFill>
                  <a:srgbClr val="0F5C46"/>
                </a:solidFill>
              </a:rPr>
              <a:t>11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D42873-6505-439C-9950-31C22EBF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99626F-4569-48C8-BBB8-DF3D8BB9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19050">
            <a:solidFill>
              <a:srgbClr val="1024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5BE82D-A03D-4844-B50F-DD84C7B3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43A"/>
                </a:solidFill>
              </a:defRPr>
            </a:pPr>
            <a:r>
              <a:rPr sz="3000" b="1">
                <a:solidFill>
                  <a:srgbClr val="10243A"/>
                </a:solidFill>
              </a:rPr>
              <a:t>Core Takeaways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B528D4-8046-426C-90B9-63E55ACF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44054"/>
                </a:solidFill>
              </a:defRPr>
            </a:pPr>
            <a:r>
              <a:rPr sz="1425" b="0">
                <a:solidFill>
                  <a:srgbClr val="344054"/>
                </a:solidFill>
              </a:rPr>
              <a:t>The deep-learning approach produces a categorical improvement rather than a small incremental gain.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5EE1C2-222B-459E-A586-B3C1288C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88FED6-1CB3-4309-B048-F153581E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42A617-045E-4FEF-9F6C-7EA54B66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43A"/>
                </a:solidFill>
              </a:defRPr>
            </a:pPr>
            <a:r>
              <a:rPr sz="2550" b="1">
                <a:solidFill>
                  <a:srgbClr val="10243A"/>
                </a:solidFill>
              </a:rPr>
              <a:t>32.95x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E9E394-E97E-40BF-8515-863EFBEE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More correct matches than ORB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B861F3-389A-404E-A900-855BF4B3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1,196 versus 37 after geometric verification.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09C92B-14E3-434A-BC80-6BF841DAA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405FD7-CFB7-4099-8E18-FDA8DF03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4F5576-E602-49CF-A7F1-7F23771A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43A"/>
                </a:solidFill>
              </a:defRPr>
            </a:pPr>
            <a:r>
              <a:rPr sz="2550" b="1">
                <a:solidFill>
                  <a:srgbClr val="10243A"/>
                </a:solidFill>
              </a:rPr>
              <a:t>7x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530B21-6609-46CC-870A-5BA093A5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Lower RMSE than the best classical method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E0C9CE-F0BA-41EA-A33F-61ED95C3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NN-DISK versus SASF in the final comparison.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81DDCE-77F4-48B4-9126-D78A9B89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7C5847-E779-4719-9692-1D46B6ABF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F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4F6DA8-5637-4BE3-AE8D-D7848940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43A"/>
                </a:solidFill>
              </a:defRPr>
            </a:pPr>
            <a:r>
              <a:rPr sz="2550" b="1">
                <a:solidFill>
                  <a:srgbClr val="10243A"/>
                </a:solidFill>
              </a:rPr>
              <a:t>21.9%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63DFEC-1641-4438-974E-5AAA9CA7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Best classical CMR from SASF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E0D954-55E1-4967-97BE-0BCC1867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Useful fallback when deep infrastructure is unavailable.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B9E7B3-2A6B-4DE7-9A60-791B6AC81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Slide rebuilt with a clean layout for presentation clarity.</a:t>
            </a:r>
          </a:p>
        </p:txBody>
      </p:sp>
    </p:spTree>
    <p:extLst>
      <p:ext uri="{BB962C8B-B14F-4D97-AF65-F5344CB8AC3E}">
        <p14:creationId xmlns:p14="http://schemas.microsoft.com/office/powerpoint/2010/main" val="6280597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96EA113-DFED-4B5D-8A1C-E95625EE254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0DA3D0-866B-4C6B-9C3A-757C9510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5C46"/>
                </a:solidFill>
              </a:defRPr>
            </a:pPr>
            <a:r>
              <a:rPr sz="975" b="1">
                <a:solidFill>
                  <a:srgbClr val="0F5C46"/>
                </a:solidFill>
              </a:rPr>
              <a:t>11  FUTURE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A2B9B6-82AE-4008-9BA7-E1B0EC02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5C46"/>
                </a:solidFill>
              </a:defRPr>
            </a:pPr>
            <a:r>
              <a:rPr sz="975" b="1">
                <a:solidFill>
                  <a:srgbClr val="0F5C46"/>
                </a:solidFill>
              </a:rPr>
              <a:t>12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359063-69C0-4002-8525-A07B8C98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23458F-7CE5-4337-9245-7A7AEFEE6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19050">
            <a:solidFill>
              <a:srgbClr val="1024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FB3FEB-7382-445A-A33B-1E0546BF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43A"/>
                </a:solidFill>
              </a:defRPr>
            </a:pPr>
            <a:r>
              <a:rPr sz="3000" b="1">
                <a:solidFill>
                  <a:srgbClr val="10243A"/>
                </a:solidFill>
              </a:rPr>
              <a:t>Where This Can Go Next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215036-EAC7-473E-8CF6-4CB36C2F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44054"/>
                </a:solidFill>
              </a:defRPr>
            </a:pPr>
            <a:r>
              <a:rPr sz="1425" b="0">
                <a:solidFill>
                  <a:srgbClr val="344054"/>
                </a:solidFill>
              </a:rPr>
              <a:t>The roadmap now is about better matchers, larger datasets, and deployment-ready inference.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12556A-1FA7-4C45-AA54-11AD2FF75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498824-4FC4-42C1-B005-E5B74C24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41686B-26C2-49B2-8FAD-2A7B4F62C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62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9F9077-91D7-490C-8018-08505F26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385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D9CA72-9F5A-4792-A0F1-DC87F93F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7623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B21BFD-9421-4421-8E37-F060E003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957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939B22-79DE-402E-A98C-EAAC3766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543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C46"/>
                </a:solidFill>
              </a:defRPr>
            </a:pPr>
            <a:r>
              <a:rPr sz="1125" b="1">
                <a:solidFill>
                  <a:srgbClr val="0F5C46"/>
                </a:solidFill>
              </a:rPr>
              <a:t>Better matching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DD3331-B1FA-45C4-91FC-A7FBB9ED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38600"/>
            <a:ext cx="29273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Replace soft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nearest-neighbour matching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with LightGlue-style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transformer matching for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stronger context-aware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correspondences.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D00273-F162-4583-A6D8-EFB47918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3375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F7A5AB-2115-4FEC-8AD2-0E1FF262F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3375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757AEB-9CD1-40C1-A0B0-34A3C521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562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638BF0-03C7-4FE1-953A-64BFDBF4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733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AE4301-67B3-4622-9403-DE6692DB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819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8A4391-6298-4A83-A3C8-8300D893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8004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8D0349-2565-4A0D-BF29-CDFD7D99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543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C46"/>
                </a:solidFill>
              </a:defRPr>
            </a:pPr>
            <a:r>
              <a:rPr sz="1125" b="1">
                <a:solidFill>
                  <a:srgbClr val="0F5C46"/>
                </a:solidFill>
              </a:rPr>
              <a:t>Better data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829682-035A-42C6-BB1C-039B3B4BF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038600"/>
            <a:ext cx="29273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Fine-tune on curated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Sentinel-1 and Sentinel-2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multimodal pairs to adapt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the learned features to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satellite-specific texture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and noise.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10A472-50FA-4E32-9295-D8CC1228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3375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75331D-5832-43E0-A82F-0AE2F139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3375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7F88AB-5C0B-45D3-B903-878F6CF1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562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F4B2CD-6FD1-4C8A-841D-A74848A10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7052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8A68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2BF049-2FE2-4C73-8845-8C182739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7909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9B28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725781-15EF-4541-8C26-93DE5817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8766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5F4F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E630BC-B6D4-40BD-A53A-036FCA1C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543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C46"/>
                </a:solidFill>
              </a:defRPr>
            </a:pPr>
            <a:r>
              <a:rPr sz="1125" b="1">
                <a:solidFill>
                  <a:srgbClr val="0F5C46"/>
                </a:solidFill>
              </a:rPr>
              <a:t>Better deployment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8972F8-03EE-4273-A894-C3AB1417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038600"/>
            <a:ext cx="29273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Use tiling, quantization,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and TensorRT or Jetson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deployment to push the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method toward real-time or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near-real-time use.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8CA827-BF06-4714-B0D9-BE5DC419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Slide rebuilt with a clean layout for presentation clarity.</a:t>
            </a:r>
          </a:p>
        </p:txBody>
      </p:sp>
    </p:spTree>
    <p:extLst>
      <p:ext uri="{BB962C8B-B14F-4D97-AF65-F5344CB8AC3E}">
        <p14:creationId xmlns:p14="http://schemas.microsoft.com/office/powerpoint/2010/main" val="114193200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96EA113-DFED-4B5D-8A1C-E95625EE254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91702B-3935-4E10-A625-7DFB4CF7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5C46"/>
                </a:solidFill>
              </a:defRPr>
            </a:pPr>
            <a:r>
              <a:rPr sz="975" b="1">
                <a:solidFill>
                  <a:srgbClr val="0F5C46"/>
                </a:solidFill>
              </a:rPr>
              <a:t>12  REFERENCES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E0C2DD-03F1-44C1-83AD-CFA470222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5C46"/>
                </a:solidFill>
              </a:defRPr>
            </a:pPr>
            <a:r>
              <a:rPr sz="975" b="1">
                <a:solidFill>
                  <a:srgbClr val="0F5C46"/>
                </a:solidFill>
              </a:rPr>
              <a:t>13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6F650B-F0DB-4342-97D1-FF65DEDF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104AE0-084D-43C1-A067-AADBE44E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19050">
            <a:solidFill>
              <a:srgbClr val="1024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FD08CB-B7D7-4614-B91D-D2617ED0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43A"/>
                </a:solidFill>
              </a:defRPr>
            </a:pPr>
            <a:r>
              <a:rPr sz="3000" b="1">
                <a:solidFill>
                  <a:srgbClr val="10243A"/>
                </a:solidFill>
              </a:rPr>
              <a:t>Key References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75A526-E139-434E-91AD-66135525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44054"/>
                </a:solidFill>
              </a:defRPr>
            </a:pPr>
            <a:r>
              <a:rPr sz="1425" b="0">
                <a:solidFill>
                  <a:srgbClr val="344054"/>
                </a:solidFill>
              </a:rPr>
              <a:t>The project is grounded in foundational local features, multimodal remote-sensing registration, and robust geometric fitting.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ACC813-1E1A-4DC3-9F02-173A4BE3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EBDC5C-5157-49EF-9018-90B4832A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116AFE-5EFA-46C2-BE74-ADC92D4A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62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DFE389-A796-4E43-B043-7DB9E1D1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385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1852B4-EC73-4F31-87DD-534F1E89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7623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12D2C7-8C6B-47B1-843E-960D59DF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957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4202C2-E86B-4405-83ED-D9293083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543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C46"/>
                </a:solidFill>
              </a:defRPr>
            </a:pPr>
            <a:r>
              <a:rPr sz="1125" b="1">
                <a:solidFill>
                  <a:srgbClr val="0F5C46"/>
                </a:solidFill>
              </a:rPr>
              <a:t>Foundations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B20145-A209-43D3-83B6-FA2AFED7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38600"/>
            <a:ext cx="29273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Lowe 2004 for SIFT, Rublee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et al. 2011 for ORB, and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Leutenegger et al. 2011 for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BRISK establish the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classical feature baseline.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E95A02-E228-410E-9370-04F07F27D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3375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636B53-67FD-4A8F-9905-063EEB63D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3375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28A673-8C98-4AC8-B9E0-3BA7C259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562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1EC1E2-0538-48FB-9715-57E6E711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733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EE9119-92D9-4FF4-A9DB-89011ABE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819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956572-986E-4109-A4A3-E92BE06A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8004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97EBF3-346D-433A-A3A5-FD12C687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543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C46"/>
                </a:solidFill>
              </a:defRPr>
            </a:pPr>
            <a:r>
              <a:rPr sz="1125" b="1">
                <a:solidFill>
                  <a:srgbClr val="0F5C46"/>
                </a:solidFill>
              </a:rPr>
              <a:t>Multimodal and learned features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D80ECF-0497-45B1-A006-81D2CDDA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038600"/>
            <a:ext cx="29273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Ye et al. 2017 motivates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SASF for multimodal sensing,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while DeTone et al. 2018 and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Tyszkiewicz et al. 2020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frame the learned feature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direction.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571FA6-C5EC-4B71-9842-8AB60F3E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3375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5D6B00-4330-4D19-A18D-12EA5FAA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3375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BDB1B8-223C-43F0-9521-B7B05C1A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562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A">
              <a:alpha val="94902"/>
            </a:srgbClr>
          </a:solidFill>
          <a:ln xmlns:a="http://schemas.openxmlformats.org/drawingml/2006/main" w="11430">
            <a:solidFill>
              <a:srgbClr val="1024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3ABD15-7DA2-4359-9F8A-AF13E6DE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7052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8A68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960473-8C97-4EAC-B867-FDCDA008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7909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9B28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8FB081-31A5-4479-BFD2-98333140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8766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5F4F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174A0A-B196-48E3-8541-D2AF84250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543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C46"/>
                </a:solidFill>
              </a:defRPr>
            </a:pPr>
            <a:r>
              <a:rPr sz="1125" b="1">
                <a:solidFill>
                  <a:srgbClr val="0F5C46"/>
                </a:solidFill>
              </a:rPr>
              <a:t>Robust estimation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04ACC9-727B-44F6-9452-8894A611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038600"/>
            <a:ext cx="29273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Fischler and Bolles 1981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remains the geometric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backbone through RANSAC,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which turns tentative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matches into valid</a:t>
            </a:r>
          </a:p>
          <a:p xmlns:a="http://schemas.openxmlformats.org/drawingml/2006/main">
            <a:pPr algn="l">
              <a:defRPr sz="1125" b="0">
                <a:solidFill>
                  <a:srgbClr val="10243A"/>
                </a:solidFill>
              </a:defRPr>
            </a:pPr>
            <a:r>
              <a:rPr sz="1125" b="0">
                <a:solidFill>
                  <a:srgbClr val="10243A"/>
                </a:solidFill>
              </a:rPr>
              <a:t>homography inliers.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B8BD6F-A9F4-47F2-A92F-34370D36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Slide rebuilt with a clean layout for presentation clarity.</a:t>
            </a:r>
          </a:p>
        </p:txBody>
      </p:sp>
    </p:spTree>
    <p:extLst>
      <p:ext uri="{BB962C8B-B14F-4D97-AF65-F5344CB8AC3E}">
        <p14:creationId xmlns:p14="http://schemas.microsoft.com/office/powerpoint/2010/main" val="1513573237"/>
      </p:ext>
    </p:extLst>
  </p:cSld>
</p:sld>
</file>

<file path=ppt/theme/theme1.xml><?xml version="1.0" encoding="utf-8"?>
<a:theme xmlns:a="http://schemas.openxmlformats.org/drawingml/2006/main" name="Rhan Viva Theme">
  <a:themeElements>
    <a:clrScheme name="Rhan Viva Theme">
      <a:accent1>
        <a:srgbClr val="1D8A68"/>
      </a:accent1>
      <a:accent2>
        <a:srgbClr val="D89B28"/>
      </a:accent2>
      <a:accent3>
        <a:srgbClr val="C85F4F"/>
      </a:accent3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Rhan Viva Them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2026-04-20T05:00:34.8690000Z</dcterms:created>
  <dcterms:modified xsi:type="dcterms:W3CDTF">2026-04-20T05:00:34.8690000Z</dcterms:modified>
</coreProperties>
</file>